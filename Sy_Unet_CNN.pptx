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36" r:id="rId2"/>
    <p:sldId id="261" r:id="rId3"/>
    <p:sldId id="321" r:id="rId4"/>
    <p:sldId id="323" r:id="rId5"/>
    <p:sldId id="324" r:id="rId6"/>
    <p:sldId id="337" r:id="rId7"/>
    <p:sldId id="342" r:id="rId8"/>
    <p:sldId id="338" r:id="rId9"/>
    <p:sldId id="339" r:id="rId10"/>
    <p:sldId id="341" r:id="rId11"/>
    <p:sldId id="34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845" autoAdjust="0"/>
  </p:normalViewPr>
  <p:slideViewPr>
    <p:cSldViewPr snapToGrid="0">
      <p:cViewPr varScale="1">
        <p:scale>
          <a:sx n="82" d="100"/>
          <a:sy n="82" d="100"/>
        </p:scale>
        <p:origin x="163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D538B-3175-4DDF-87B7-42A6A32330D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B71B9-4C9B-475D-A281-A9D7C3DA3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0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1">
              <a:lnSpc>
                <a:spcPct val="160000"/>
              </a:lnSpc>
            </a:pPr>
            <a:r>
              <a:rPr lang="en-US"/>
              <a:t>Hello everyone, today, I am going to talk about “</a:t>
            </a:r>
            <a:r>
              <a:rPr lang="en-US" sz="1200">
                <a:solidFill>
                  <a:srgbClr val="C00000"/>
                </a:solidFill>
                <a:latin typeface="+mj-lt"/>
              </a:rPr>
              <a:t>Multiscale Topology Optimization of Structures </a:t>
            </a:r>
          </a:p>
          <a:p>
            <a:pPr hangingPunct="1">
              <a:lnSpc>
                <a:spcPct val="160000"/>
              </a:lnSpc>
            </a:pPr>
            <a:r>
              <a:rPr lang="en-US" sz="1200">
                <a:solidFill>
                  <a:srgbClr val="C00000"/>
                </a:solidFill>
                <a:latin typeface="+mj-lt"/>
              </a:rPr>
              <a:t>Made of Triply Periodic Minimal Surface (TPMS) Lattices”</a:t>
            </a:r>
            <a:endParaRPr lang="en-US" sz="80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773CC-5BAC-4478-834C-828C3C73D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80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With that, from perspective view of mechanical designers, one of the main question is that how can you design TPMS structures?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Right now, we have two methods to design TPMS: Functional grading and topology optimization.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 will talk more details about the advantages and disadvantages of these methods in Section 3</a:t>
            </a:r>
            <a:endParaRPr dirty="0"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02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38E64AB-43D9-DC4F-707E-9570727B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6903F537-3964-9E32-A0D4-9B14BE746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22F5855D-BE0D-B8DF-D887-EDD3183F9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With that, from perspective view of mechanical designers, one of the main question is that how can you design TPMS structures?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Right now, we have two methods to design TPMS: Functional grading and topology optimization.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 will talk more details about the advantages and disadvantages of these methods in Section 3</a:t>
            </a:r>
            <a:endParaRPr dirty="0"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8138FC20-A083-6061-3812-56C8C352D8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996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05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8598C-73A8-9864-2E5E-A425FE0A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62CF5-321B-9B5B-9CFA-A90E189E2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74DE0-7A5C-75C6-B8A0-DF11EAA36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7EB99-8831-0E84-E1C8-5A5D3AEB9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78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66F9-3BE4-FECB-03BB-D70065767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F2404-4652-FA5F-F955-6CC5F01A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F2A5F-43DE-19BF-084B-26594F848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B80F7-E5BE-2B2C-62B1-CAD8730AD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51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C5A9B-BD0C-4B41-68E9-CE610CB3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83A0E-40E7-182A-0B62-75F5E1BD7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2861B-53DC-3AF4-16B3-37C86B95D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6F032-910B-CEFF-6CEF-93A0F00C1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69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B468-B472-14D2-7B96-E35193B4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C882F-471A-A8A2-C5E0-F657E5377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9C43D-6335-6D8C-776D-39864A294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COLOR SCALE</a:t>
            </a:r>
          </a:p>
          <a:p>
            <a:r>
              <a:rPr lang="en-US"/>
              <a:t>R2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022A-6E3B-5324-8A7E-ECDF8945D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44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3980-20BB-9411-9013-6D8DF1EA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0BA7B-EE78-8F7E-153A-85C9375B4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1BECD-824D-0693-8F93-6A2F240CF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COLOR SCALE</a:t>
            </a:r>
          </a:p>
          <a:p>
            <a:r>
              <a:rPr lang="en-US"/>
              <a:t>R2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D4E9A-DDFD-52E1-DE25-80EB687C1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48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DE12-6F20-0B0A-DE4B-50FA7DE4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30056-AA7E-DF31-2BE8-ED8D486F2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E752C-9614-E6EA-B7E9-C9BFA14B8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CA470-B308-A63A-73EA-78C2075C2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DD7B-CB95-4F58-8D9A-A8040E25F7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10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53E9-5059-EAEF-9AD5-F243E8EF6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BB1AB-E425-D164-02A5-8FB60F83E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53055-EDD0-F112-5478-08F05697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A7FA793-001C-4C52-91C3-2CAB0B3E506D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BCDD4-1421-84A7-2436-1FA71964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CBE69-E48B-DB4D-A460-3FF28D96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E686C-0B8C-4382-B4A7-D93C5C26B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8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FDF7-C3B8-0FB2-5590-4F33598A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60172"/>
            <a:ext cx="11091909" cy="827597"/>
          </a:xfrm>
        </p:spPr>
        <p:txBody>
          <a:bodyPr/>
          <a:lstStyle>
            <a:lvl1pPr algn="ctr">
              <a:defRPr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8A01-3F5F-893A-0C19-8417B8DBB6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046" y="1136342"/>
            <a:ext cx="11091909" cy="5308541"/>
          </a:xfrm>
        </p:spPr>
        <p:txBody>
          <a:bodyPr/>
          <a:lstStyle>
            <a:lvl1pPr marL="228606" indent="-228606">
              <a:buClr>
                <a:srgbClr val="C00000"/>
              </a:buClr>
              <a:buSzPct val="80000"/>
              <a:buFont typeface="Wingdings" panose="05000000000000000000" pitchFamily="2" charset="2"/>
              <a:buChar char=""/>
              <a:defRPr sz="2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18" indent="-228606">
              <a:buClr>
                <a:srgbClr val="C00000"/>
              </a:buClr>
              <a:buSzPct val="60000"/>
              <a:buFont typeface="Wingdings" panose="05000000000000000000" pitchFamily="2" charset="2"/>
              <a:buChar char="ü"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  Click to edit Master text styles</a:t>
            </a:r>
          </a:p>
          <a:p>
            <a:pPr lvl="1"/>
            <a:r>
              <a:rPr lang="en-US"/>
              <a:t>  Second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94DB1-28F0-F82E-5A7C-27F9F11A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1955" y="6444883"/>
            <a:ext cx="549676" cy="365125"/>
          </a:xfrm>
        </p:spPr>
        <p:txBody>
          <a:bodyPr/>
          <a:lstStyle>
            <a:lvl1pPr algn="ctr"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C8E686C-0B8C-4382-B4A7-D93C5C26B8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6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4732F-461E-2E8B-138C-26776931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75924-826E-BA37-7D92-78C61A153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F4B92-4D77-7D91-BDE0-C8348DA97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E686C-0B8C-4382-B4A7-D93C5C26B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8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y-nguyen-van/Deep_Learning_S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D377F3-487E-40FB-9D5A-6225D12A97BE}"/>
              </a:ext>
            </a:extLst>
          </p:cNvPr>
          <p:cNvSpPr txBox="1">
            <a:spLocks/>
          </p:cNvSpPr>
          <p:nvPr/>
        </p:nvSpPr>
        <p:spPr>
          <a:xfrm>
            <a:off x="622300" y="479552"/>
            <a:ext cx="11004550" cy="2360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97500"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Factoria Ultra" pitchFamily="2" charset="77"/>
                <a:ea typeface="+mn-ea"/>
                <a:cs typeface="+mn-cs"/>
                <a:sym typeface="Helvetica Neue Medium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160000"/>
              </a:lnSpc>
            </a:pPr>
            <a:r>
              <a:rPr lang="en-US" sz="4900">
                <a:solidFill>
                  <a:srgbClr val="C00000"/>
                </a:solidFill>
                <a:latin typeface="+mj-lt"/>
              </a:rPr>
              <a:t>Unet beats CNN in topology optimization</a:t>
            </a:r>
          </a:p>
          <a:p>
            <a:pPr hangingPunct="1">
              <a:lnSpc>
                <a:spcPct val="160000"/>
              </a:lnSpc>
            </a:pPr>
            <a:endParaRPr lang="en-US" sz="3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CE89223-4EB5-431F-89DD-4EE178F23F1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622300" y="2840514"/>
            <a:ext cx="11004550" cy="512064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 Nguyen-Van</a:t>
            </a:r>
            <a:endParaRPr lang="en-US" sz="2800" b="1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F56D77A-AFA8-4C87-94FE-5F04F9BF1E57}"/>
              </a:ext>
            </a:extLst>
          </p:cNvPr>
          <p:cNvSpPr txBox="1">
            <a:spLocks/>
          </p:cNvSpPr>
          <p:nvPr/>
        </p:nvSpPr>
        <p:spPr>
          <a:xfrm>
            <a:off x="593725" y="4322176"/>
            <a:ext cx="11004550" cy="90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t">
            <a:normAutofit fontScale="92500" lnSpcReduction="20000"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lnSpc>
                <a:spcPct val="150000"/>
              </a:lnSpc>
            </a:pPr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project: Deep Learning</a:t>
            </a:r>
          </a:p>
          <a:p>
            <a:pPr hangingPunct="1">
              <a:lnSpc>
                <a:spcPct val="150000"/>
              </a:lnSpc>
            </a:pPr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November,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0A2D3DF-AF66-2B41-2AF4-A9CFB46C87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69336" y="6492875"/>
            <a:ext cx="822664" cy="365125"/>
          </a:xfrm>
        </p:spPr>
        <p:txBody>
          <a:bodyPr/>
          <a:lstStyle/>
          <a:p>
            <a:fld id="{AF88E988-FB04-AB4E-BE5A-59F242AF7F7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82D61EFD-467C-CFB9-E59F-1BF467A177A6}"/>
              </a:ext>
            </a:extLst>
          </p:cNvPr>
          <p:cNvSpPr txBox="1">
            <a:spLocks/>
          </p:cNvSpPr>
          <p:nvPr/>
        </p:nvSpPr>
        <p:spPr>
          <a:xfrm>
            <a:off x="565150" y="3425730"/>
            <a:ext cx="11004550" cy="610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t"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/>
            <a:r>
              <a:rPr lang="en-US" sz="240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 of Mechanical, Aerospace and Manufacturing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515720-378D-2E2B-AAC8-7560D586A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create lighter and safer structures 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A8B71-5BCC-5ED0-A95B-A727EB1EC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How to create optimal designs:</a:t>
            </a:r>
          </a:p>
          <a:p>
            <a:pPr lvl="1"/>
            <a:r>
              <a:rPr lang="en-US"/>
              <a:t>As lightweight as possible</a:t>
            </a:r>
          </a:p>
          <a:p>
            <a:pPr lvl="1"/>
            <a:r>
              <a:rPr lang="en-US"/>
              <a:t>Strong enough to ensure safety</a:t>
            </a:r>
          </a:p>
        </p:txBody>
      </p:sp>
      <p:sp>
        <p:nvSpPr>
          <p:cNvPr id="149" name="Google Shape;149;p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Photograph showing the Bayonne Bridge.">
            <a:extLst>
              <a:ext uri="{FF2B5EF4-FFF2-40B4-BE49-F238E27FC236}">
                <a16:creationId xmlns:a16="http://schemas.microsoft.com/office/drawing/2014/main" id="{3A6C2628-CE85-E047-4A45-3F38F2324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63" y="2539428"/>
            <a:ext cx="4884637" cy="331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C59D7-F6A7-C061-F455-D3EFF620408C}"/>
              </a:ext>
            </a:extLst>
          </p:cNvPr>
          <p:cNvSpPr txBox="1"/>
          <p:nvPr/>
        </p:nvSpPr>
        <p:spPr>
          <a:xfrm>
            <a:off x="2236177" y="6099785"/>
            <a:ext cx="893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0F047-B757-AA72-6AA9-DA117DFA0066}"/>
              </a:ext>
            </a:extLst>
          </p:cNvPr>
          <p:cNvSpPr txBox="1"/>
          <p:nvPr/>
        </p:nvSpPr>
        <p:spPr>
          <a:xfrm>
            <a:off x="8132886" y="6073448"/>
            <a:ext cx="1503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Aircraft wings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B3B1B-8019-2A6D-4135-650453D6CBFB}"/>
              </a:ext>
            </a:extLst>
          </p:cNvPr>
          <p:cNvSpPr txBox="1"/>
          <p:nvPr/>
        </p:nvSpPr>
        <p:spPr>
          <a:xfrm>
            <a:off x="1441938" y="6428496"/>
            <a:ext cx="2482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www.usa.skanska.com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BE4BF-AA6D-E18A-ED4B-216A090E2A17}"/>
              </a:ext>
            </a:extLst>
          </p:cNvPr>
          <p:cNvSpPr txBox="1"/>
          <p:nvPr/>
        </p:nvSpPr>
        <p:spPr>
          <a:xfrm>
            <a:off x="7471918" y="6442780"/>
            <a:ext cx="3129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https://pilotinstitute.com/</a:t>
            </a:r>
          </a:p>
        </p:txBody>
      </p:sp>
      <p:pic>
        <p:nvPicPr>
          <p:cNvPr id="10" name="Picture 2" descr="Parts-of-a-Wing">
            <a:extLst>
              <a:ext uri="{FF2B5EF4-FFF2-40B4-BE49-F238E27FC236}">
                <a16:creationId xmlns:a16="http://schemas.microsoft.com/office/drawing/2014/main" id="{7DD8013A-68EC-46C5-944B-2978BBC6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548" y="2904553"/>
            <a:ext cx="6146433" cy="268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01AA-7DBC-BFB3-E3E5-F5E5A188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Topology </a:t>
            </a:r>
            <a:r>
              <a:rPr lang="en-US" dirty="0"/>
              <a:t>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FFB48-0889-5871-06B6-7D84B0E3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3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AD48F-D5F2-0E9F-84FA-E54411091813}"/>
              </a:ext>
            </a:extLst>
          </p:cNvPr>
          <p:cNvSpPr txBox="1"/>
          <p:nvPr/>
        </p:nvSpPr>
        <p:spPr>
          <a:xfrm>
            <a:off x="213145" y="6436613"/>
            <a:ext cx="3381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https://www.jorislaarman.com/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2ADEFF-3F92-4BB8-FD51-212228E06232}"/>
              </a:ext>
            </a:extLst>
          </p:cNvPr>
          <p:cNvSpPr txBox="1"/>
          <p:nvPr/>
        </p:nvSpPr>
        <p:spPr>
          <a:xfrm>
            <a:off x="8629531" y="5853582"/>
            <a:ext cx="2112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 design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441346847">
            <a:hlinkClick r:id="" action="ppaction://media"/>
            <a:extLst>
              <a:ext uri="{FF2B5EF4-FFF2-40B4-BE49-F238E27FC236}">
                <a16:creationId xmlns:a16="http://schemas.microsoft.com/office/drawing/2014/main" id="{50CB63AA-2758-35A9-202E-9E4E704E5B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28215" t="18960" r="24672" b="14578"/>
          <a:stretch/>
        </p:blipFill>
        <p:spPr>
          <a:xfrm>
            <a:off x="121386" y="1237722"/>
            <a:ext cx="5968257" cy="4735875"/>
          </a:xfrm>
          <a:prstGeom prst="rect">
            <a:avLst/>
          </a:prstGeom>
        </p:spPr>
      </p:pic>
      <p:pic>
        <p:nvPicPr>
          <p:cNvPr id="5122" name="Picture 2" descr="JORIS LAARMAN | &quot;BONE&quot; CHAIR | Important Design | 20th ...">
            <a:extLst>
              <a:ext uri="{FF2B5EF4-FFF2-40B4-BE49-F238E27FC236}">
                <a16:creationId xmlns:a16="http://schemas.microsoft.com/office/drawing/2014/main" id="{CAA9FBEF-A31D-549C-768D-3724789A9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146" y="1152537"/>
            <a:ext cx="4523152" cy="460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F6122F-8222-D7C1-A2BC-C8D6C560C4A6}"/>
              </a:ext>
            </a:extLst>
          </p:cNvPr>
          <p:cNvSpPr txBox="1"/>
          <p:nvPr/>
        </p:nvSpPr>
        <p:spPr>
          <a:xfrm>
            <a:off x="600545" y="5862825"/>
            <a:ext cx="4857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Topology optimization process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53B7396-E470-B7C0-CCBA-6BB2F4E5D068}"/>
              </a:ext>
            </a:extLst>
          </p:cNvPr>
          <p:cNvSpPr/>
          <p:nvPr/>
        </p:nvSpPr>
        <p:spPr>
          <a:xfrm>
            <a:off x="5544729" y="3452987"/>
            <a:ext cx="1199875" cy="2869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42CF3-9DC3-C26A-2788-15365D6EA8E4}"/>
              </a:ext>
            </a:extLst>
          </p:cNvPr>
          <p:cNvSpPr txBox="1"/>
          <p:nvPr/>
        </p:nvSpPr>
        <p:spPr>
          <a:xfrm>
            <a:off x="5352998" y="2870478"/>
            <a:ext cx="1572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Topology optimization</a:t>
            </a:r>
          </a:p>
        </p:txBody>
      </p:sp>
    </p:spTree>
    <p:extLst>
      <p:ext uri="{BB962C8B-B14F-4D97-AF65-F5344CB8AC3E}">
        <p14:creationId xmlns:p14="http://schemas.microsoft.com/office/powerpoint/2010/main" val="71773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4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CABE309F-6F58-6C3C-5126-C78DA09B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DCEC-C01B-95ED-EEEB-1477B148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of topology optimization</a:t>
            </a:r>
          </a:p>
        </p:txBody>
      </p:sp>
      <p:sp>
        <p:nvSpPr>
          <p:cNvPr id="149" name="Google Shape;149;p6">
            <a:extLst>
              <a:ext uri="{FF2B5EF4-FFF2-40B4-BE49-F238E27FC236}">
                <a16:creationId xmlns:a16="http://schemas.microsoft.com/office/drawing/2014/main" id="{CE4C0D1F-61BE-6563-80C8-5FABAEABA96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580599-8DC6-D580-9142-6A2EDABEA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623" y="2351693"/>
            <a:ext cx="5629275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8BED96-18B8-5011-715F-443977160A1D}"/>
              </a:ext>
            </a:extLst>
          </p:cNvPr>
          <p:cNvSpPr txBox="1"/>
          <p:nvPr/>
        </p:nvSpPr>
        <p:spPr>
          <a:xfrm>
            <a:off x="6467623" y="5173859"/>
            <a:ext cx="54906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Airbus uses topology optimization in aircraft wings to  save 1000 kg of weight</a:t>
            </a: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55C1D-00AF-05EB-80A8-ECF28853C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27942"/>
            <a:ext cx="5892325" cy="2795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7E5716-DC1A-E06B-B527-D76AC0ACD117}"/>
              </a:ext>
            </a:extLst>
          </p:cNvPr>
          <p:cNvSpPr txBox="1"/>
          <p:nvPr/>
        </p:nvSpPr>
        <p:spPr>
          <a:xfrm>
            <a:off x="8208362" y="6409545"/>
            <a:ext cx="276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>
                <a:solidFill>
                  <a:srgbClr val="5F636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altairhyperworks.co.uk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2754F-9598-BEB0-9EF8-67D18040315B}"/>
              </a:ext>
            </a:extLst>
          </p:cNvPr>
          <p:cNvSpPr txBox="1"/>
          <p:nvPr/>
        </p:nvSpPr>
        <p:spPr>
          <a:xfrm>
            <a:off x="0" y="6374188"/>
            <a:ext cx="2764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5F636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Javier et al. 2019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60778-1287-CB2A-DBD3-F061E34BE92E}"/>
              </a:ext>
            </a:extLst>
          </p:cNvPr>
          <p:cNvSpPr txBox="1"/>
          <p:nvPr/>
        </p:nvSpPr>
        <p:spPr>
          <a:xfrm>
            <a:off x="727668" y="5312358"/>
            <a:ext cx="36971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 bridge design</a:t>
            </a: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2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01AA-7DBC-BFB3-E3E5-F5E5A188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01"/>
            <a:ext cx="12038029" cy="492364"/>
          </a:xfrm>
        </p:spPr>
        <p:txBody>
          <a:bodyPr>
            <a:normAutofit fontScale="90000"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Challenges in Topology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FFB48-0889-5871-06B6-7D84B0E3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6DE3B3-DD73-3C6B-C5E3-9C31F035B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247" y="1457030"/>
            <a:ext cx="3400264" cy="20176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9125EA-6E64-1C48-DD8C-0C225A7D9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4075" y="1610194"/>
            <a:ext cx="2855191" cy="209907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AAD5C2D-19EB-3A54-C4AA-F42075585535}"/>
              </a:ext>
            </a:extLst>
          </p:cNvPr>
          <p:cNvCxnSpPr>
            <a:cxnSpLocks/>
          </p:cNvCxnSpPr>
          <p:nvPr/>
        </p:nvCxnSpPr>
        <p:spPr>
          <a:xfrm>
            <a:off x="3582262" y="2441041"/>
            <a:ext cx="1064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1ECD1F1-1272-D073-6D63-F9CECB9FE4B9}"/>
              </a:ext>
            </a:extLst>
          </p:cNvPr>
          <p:cNvSpPr txBox="1"/>
          <p:nvPr/>
        </p:nvSpPr>
        <p:spPr>
          <a:xfrm>
            <a:off x="3260623" y="2024257"/>
            <a:ext cx="1650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Discretization</a:t>
            </a:r>
            <a:endParaRPr lang="en-US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7B5625-A1D7-19AD-FFE5-B01A09AB8440}"/>
              </a:ext>
            </a:extLst>
          </p:cNvPr>
          <p:cNvSpPr txBox="1"/>
          <p:nvPr/>
        </p:nvSpPr>
        <p:spPr>
          <a:xfrm>
            <a:off x="8857315" y="2098269"/>
            <a:ext cx="23631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Stiffness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</a:t>
            </a:r>
            <a:r>
              <a:rPr lang="en-US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Mass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624EB3E3-AB51-55F4-3C89-54D6CDFB11F8}"/>
              </a:ext>
            </a:extLst>
          </p:cNvPr>
          <p:cNvSpPr/>
          <p:nvPr/>
        </p:nvSpPr>
        <p:spPr>
          <a:xfrm>
            <a:off x="5356513" y="3946906"/>
            <a:ext cx="2097054" cy="833067"/>
          </a:xfrm>
          <a:prstGeom prst="flowChartDecision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100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Stopping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4AF9A7-705E-B10A-5F96-614334EB0AB5}"/>
              </a:ext>
            </a:extLst>
          </p:cNvPr>
          <p:cNvSpPr txBox="1"/>
          <p:nvPr/>
        </p:nvSpPr>
        <p:spPr>
          <a:xfrm>
            <a:off x="305247" y="4759281"/>
            <a:ext cx="9698213" cy="198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 main challenges in Topology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(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Solving PDE: Expensive</a:t>
            </a:r>
            <a:endParaRPr lang="en-US" sz="2000" i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Gradients: Error prones + Time consuming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Iterative process: Expensive</a:t>
            </a:r>
            <a:endParaRPr lang="en-US" sz="2000" i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8BAA91-BA55-CDB0-58E8-B9D2ACDA24C2}"/>
              </a:ext>
            </a:extLst>
          </p:cNvPr>
          <p:cNvCxnSpPr>
            <a:cxnSpLocks/>
          </p:cNvCxnSpPr>
          <p:nvPr/>
        </p:nvCxnSpPr>
        <p:spPr>
          <a:xfrm>
            <a:off x="7792579" y="2431615"/>
            <a:ext cx="1064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01848B-1803-4977-CCC8-F90F9268A5A2}"/>
              </a:ext>
            </a:extLst>
          </p:cNvPr>
          <p:cNvCxnSpPr>
            <a:cxnSpLocks/>
            <a:stCxn id="26" idx="2"/>
            <a:endCxn id="14" idx="0"/>
          </p:cNvCxnSpPr>
          <p:nvPr/>
        </p:nvCxnSpPr>
        <p:spPr>
          <a:xfrm>
            <a:off x="10038885" y="2744600"/>
            <a:ext cx="0" cy="12467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76956D-6771-B88F-7D1C-A97B5D3DC942}"/>
              </a:ext>
            </a:extLst>
          </p:cNvPr>
          <p:cNvCxnSpPr>
            <a:cxnSpLocks/>
            <a:stCxn id="14" idx="1"/>
            <a:endCxn id="37" idx="3"/>
          </p:cNvCxnSpPr>
          <p:nvPr/>
        </p:nvCxnSpPr>
        <p:spPr>
          <a:xfrm flipH="1" flipV="1">
            <a:off x="7453567" y="4363440"/>
            <a:ext cx="1626501" cy="33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09BCE5-77AB-B660-9CD5-1F1B0FDAC6F1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3461328" y="4363440"/>
            <a:ext cx="18951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00525B-279C-EF60-DB2B-0D1E829E15C3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6405040" y="3236570"/>
            <a:ext cx="0" cy="7103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DDDA5EE-47B7-1299-C201-BDB061C956D1}"/>
              </a:ext>
            </a:extLst>
          </p:cNvPr>
          <p:cNvSpPr txBox="1"/>
          <p:nvPr/>
        </p:nvSpPr>
        <p:spPr>
          <a:xfrm>
            <a:off x="4003717" y="3916155"/>
            <a:ext cx="60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US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73E9D5-8D4B-94F8-C3AB-B6217D5748DE}"/>
              </a:ext>
            </a:extLst>
          </p:cNvPr>
          <p:cNvSpPr txBox="1"/>
          <p:nvPr/>
        </p:nvSpPr>
        <p:spPr>
          <a:xfrm>
            <a:off x="5848328" y="3441102"/>
            <a:ext cx="60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endParaRPr lang="en-US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53B23B-883D-8D31-7C8B-1D982973FB49}"/>
              </a:ext>
            </a:extLst>
          </p:cNvPr>
          <p:cNvSpPr txBox="1"/>
          <p:nvPr/>
        </p:nvSpPr>
        <p:spPr>
          <a:xfrm>
            <a:off x="5895562" y="2102284"/>
            <a:ext cx="51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endParaRPr lang="en-US" baseline="-2500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0AAAD2-7AEB-E8DE-3018-221230817BEE}"/>
              </a:ext>
            </a:extLst>
          </p:cNvPr>
          <p:cNvSpPr txBox="1"/>
          <p:nvPr/>
        </p:nvSpPr>
        <p:spPr>
          <a:xfrm>
            <a:off x="7715832" y="4454484"/>
            <a:ext cx="1318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Update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of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endParaRPr lang="en-US" sz="1600" b="1" i="1" baseline="-25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A2B663-78AF-BC4F-521C-DF4BE1FD08D0}"/>
              </a:ext>
            </a:extLst>
          </p:cNvPr>
          <p:cNvSpPr txBox="1"/>
          <p:nvPr/>
        </p:nvSpPr>
        <p:spPr>
          <a:xfrm>
            <a:off x="3775337" y="4513302"/>
            <a:ext cx="1318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Optimal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endParaRPr lang="en-US" sz="1600" b="1" i="1" baseline="-25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2CC41-CA09-3BB5-5B1F-3443DF58B785}"/>
              </a:ext>
            </a:extLst>
          </p:cNvPr>
          <p:cNvSpPr txBox="1"/>
          <p:nvPr/>
        </p:nvSpPr>
        <p:spPr>
          <a:xfrm>
            <a:off x="10029358" y="3188906"/>
            <a:ext cx="1318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Sensitivity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91CAF9-6F58-46F1-6CBC-DDD53E653362}"/>
              </a:ext>
            </a:extLst>
          </p:cNvPr>
          <p:cNvSpPr/>
          <p:nvPr/>
        </p:nvSpPr>
        <p:spPr>
          <a:xfrm>
            <a:off x="1086738" y="1047616"/>
            <a:ext cx="1837282" cy="3931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domain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F6E3E2-5C17-17B3-C0ED-93E0A4BAC88A}"/>
              </a:ext>
            </a:extLst>
          </p:cNvPr>
          <p:cNvSpPr/>
          <p:nvPr/>
        </p:nvSpPr>
        <p:spPr>
          <a:xfrm>
            <a:off x="4797373" y="1047616"/>
            <a:ext cx="3048000" cy="39314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variables: density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160D8B-AD4B-39DD-5881-0586F606177A}"/>
              </a:ext>
            </a:extLst>
          </p:cNvPr>
          <p:cNvSpPr/>
          <p:nvPr/>
        </p:nvSpPr>
        <p:spPr>
          <a:xfrm>
            <a:off x="8510062" y="974661"/>
            <a:ext cx="3131893" cy="5291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Solve PDE using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Finite Element Analysis (FEA)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5F238D-344F-4423-BD5C-E93AC86BDD91}"/>
              </a:ext>
            </a:extLst>
          </p:cNvPr>
          <p:cNvSpPr/>
          <p:nvPr/>
        </p:nvSpPr>
        <p:spPr>
          <a:xfrm>
            <a:off x="9080068" y="3991317"/>
            <a:ext cx="1917634" cy="7509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Gradient-based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2C4D1-F423-03F7-8A80-DDED498B64B1}"/>
              </a:ext>
            </a:extLst>
          </p:cNvPr>
          <p:cNvSpPr txBox="1"/>
          <p:nvPr/>
        </p:nvSpPr>
        <p:spPr>
          <a:xfrm>
            <a:off x="7583774" y="2035726"/>
            <a:ext cx="1318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Functions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Google Shape;148;p6">
            <a:extLst>
              <a:ext uri="{FF2B5EF4-FFF2-40B4-BE49-F238E27FC236}">
                <a16:creationId xmlns:a16="http://schemas.microsoft.com/office/drawing/2014/main" id="{D157E68F-CD83-45AD-BB4B-5E9C2AC0404E}"/>
              </a:ext>
            </a:extLst>
          </p:cNvPr>
          <p:cNvSpPr txBox="1">
            <a:spLocks/>
          </p:cNvSpPr>
          <p:nvPr/>
        </p:nvSpPr>
        <p:spPr>
          <a:xfrm>
            <a:off x="550416" y="60172"/>
            <a:ext cx="11091909" cy="8275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</a:pPr>
            <a:r>
              <a:rPr lang="en-US"/>
              <a:t>Challenges in Topology Optimization</a:t>
            </a:r>
            <a:endParaRPr lang="en-US" dirty="0"/>
          </a:p>
        </p:txBody>
      </p:sp>
      <p:pic>
        <p:nvPicPr>
          <p:cNvPr id="17" name="bandicam 2024-10-28 20-26-59-303">
            <a:hlinkClick r:id="" action="ppaction://media"/>
            <a:extLst>
              <a:ext uri="{FF2B5EF4-FFF2-40B4-BE49-F238E27FC236}">
                <a16:creationId xmlns:a16="http://schemas.microsoft.com/office/drawing/2014/main" id="{F125B482-8AE1-10D1-A4E2-6DB132EE75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38495" t="16877" r="37398" b="60996"/>
          <a:stretch/>
        </p:blipFill>
        <p:spPr>
          <a:xfrm>
            <a:off x="828438" y="3461457"/>
            <a:ext cx="2457330" cy="1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8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7B20-E9CE-6599-2AEF-185771A8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3B654-8090-48A9-E903-58EB4752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8AD8B4-8374-9EE4-BD20-3F5C25D47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520" y="2813258"/>
            <a:ext cx="4706711" cy="313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10A9C1A-5734-0FC7-0350-BA99E2879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88"/>
          <a:stretch/>
        </p:blipFill>
        <p:spPr bwMode="auto">
          <a:xfrm>
            <a:off x="181874" y="3041549"/>
            <a:ext cx="6272331" cy="225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342A55E-FAD9-1FF6-D9B9-4E522F1AE1D7}"/>
              </a:ext>
            </a:extLst>
          </p:cNvPr>
          <p:cNvSpPr txBox="1"/>
          <p:nvPr/>
        </p:nvSpPr>
        <p:spPr>
          <a:xfrm>
            <a:off x="0" y="6488668"/>
            <a:ext cx="221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https://medium.com/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0525F8D-9581-EAE3-6F40-E5845D7C52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98"/>
          <a:stretch/>
        </p:blipFill>
        <p:spPr>
          <a:xfrm>
            <a:off x="7456817" y="1027333"/>
            <a:ext cx="3032437" cy="139084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76C454-FA2E-0C02-013A-0D0E44689119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7026707" y="1722755"/>
            <a:ext cx="4301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1C34D7-805E-300E-9803-F6A4ED60885E}"/>
              </a:ext>
            </a:extLst>
          </p:cNvPr>
          <p:cNvSpPr/>
          <p:nvPr/>
        </p:nvSpPr>
        <p:spPr>
          <a:xfrm>
            <a:off x="5109073" y="1347277"/>
            <a:ext cx="1917634" cy="7509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C52D800-EF4D-7507-4898-C93FFF7A22F6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4592690" y="1722755"/>
            <a:ext cx="5163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DFCBEA8-7313-5635-0CDF-8D9BEB76CDFD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3259015" y="2098232"/>
            <a:ext cx="2808875" cy="7150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4142810-EC63-146F-6A28-484BA43FCD16}"/>
              </a:ext>
            </a:extLst>
          </p:cNvPr>
          <p:cNvCxnSpPr>
            <a:cxnSpLocks/>
            <a:stCxn id="33" idx="2"/>
            <a:endCxn id="1026" idx="0"/>
          </p:cNvCxnSpPr>
          <p:nvPr/>
        </p:nvCxnSpPr>
        <p:spPr>
          <a:xfrm>
            <a:off x="6067890" y="2098232"/>
            <a:ext cx="3125986" cy="7150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TextBox 1023">
            <a:extLst>
              <a:ext uri="{FF2B5EF4-FFF2-40B4-BE49-F238E27FC236}">
                <a16:creationId xmlns:a16="http://schemas.microsoft.com/office/drawing/2014/main" id="{5DB2172C-A00A-2F99-C5CA-067C94A8C2B6}"/>
              </a:ext>
            </a:extLst>
          </p:cNvPr>
          <p:cNvSpPr txBox="1"/>
          <p:nvPr/>
        </p:nvSpPr>
        <p:spPr>
          <a:xfrm>
            <a:off x="1946002" y="6039716"/>
            <a:ext cx="1012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CNN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F25C841-B86C-C69A-0D04-BB07E902C5C7}"/>
              </a:ext>
            </a:extLst>
          </p:cNvPr>
          <p:cNvSpPr txBox="1"/>
          <p:nvPr/>
        </p:nvSpPr>
        <p:spPr>
          <a:xfrm>
            <a:off x="8565681" y="6039716"/>
            <a:ext cx="1012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Unet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9260BE7-B4C2-02F8-0B1C-24D13B35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Proposed deep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87B7D-9C3E-313F-314C-C69FFC3FC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3474" y="1082915"/>
            <a:ext cx="2739216" cy="13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4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F5FC-76F3-C8CE-FB12-5B427BD5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1028F26-D65E-48F2-143A-7655F5844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Dataset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D060C4E-7BF2-8EA5-5754-FEBDB7B47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46" y="922419"/>
            <a:ext cx="11091909" cy="5308541"/>
          </a:xfrm>
        </p:spPr>
        <p:txBody>
          <a:bodyPr/>
          <a:lstStyle/>
          <a:p>
            <a:r>
              <a:rPr lang="en-US"/>
              <a:t> Input: Stress of initial domain with changing of location of forces</a:t>
            </a:r>
          </a:p>
          <a:p>
            <a:r>
              <a:rPr lang="en-US"/>
              <a:t> Output: The optimal design from topology optimization</a:t>
            </a:r>
          </a:p>
          <a:p>
            <a:r>
              <a:rPr lang="en-US"/>
              <a:t> Topology optimization: Minimize the mass and stress constraint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7E668-083A-F82E-4CC6-EB65D118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 descr="A screenshot of a graph&#10;&#10;Description automatically generated">
            <a:extLst>
              <a:ext uri="{FF2B5EF4-FFF2-40B4-BE49-F238E27FC236}">
                <a16:creationId xmlns:a16="http://schemas.microsoft.com/office/drawing/2014/main" id="{6C47E729-94FB-6EF3-A8B7-3B8C5334F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0" t="33982" r="50582" b="54354"/>
          <a:stretch/>
        </p:blipFill>
        <p:spPr>
          <a:xfrm>
            <a:off x="8269566" y="3134802"/>
            <a:ext cx="3833885" cy="1289739"/>
          </a:xfrm>
          <a:prstGeom prst="rect">
            <a:avLst/>
          </a:prstGeom>
        </p:spPr>
      </p:pic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D8F9F818-43DC-8C42-5CBE-DBD8BA022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" t="33945" r="75300" b="54391"/>
          <a:stretch/>
        </p:blipFill>
        <p:spPr>
          <a:xfrm>
            <a:off x="4021411" y="3121226"/>
            <a:ext cx="3946674" cy="1327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ECD1A9-DCE7-9011-C3C5-262E7766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07" y="2975079"/>
            <a:ext cx="3443883" cy="1546483"/>
          </a:xfrm>
          <a:prstGeom prst="rect">
            <a:avLst/>
          </a:prstGeom>
        </p:spPr>
      </p:pic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F269CFDB-361E-EEED-FB03-34D67639C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98" r="75218" b="28077"/>
          <a:stretch/>
        </p:blipFill>
        <p:spPr>
          <a:xfrm>
            <a:off x="3815853" y="5037118"/>
            <a:ext cx="4158731" cy="1373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E389D2-1D5D-0824-8E1F-7203DB51A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85" y="4919099"/>
            <a:ext cx="3507371" cy="1585841"/>
          </a:xfrm>
          <a:prstGeom prst="rect">
            <a:avLst/>
          </a:prstGeom>
        </p:spPr>
      </p:pic>
      <p:pic>
        <p:nvPicPr>
          <p:cNvPr id="12" name="Picture 11" descr="A screenshot of a graph&#10;&#10;Description automatically generated">
            <a:extLst>
              <a:ext uri="{FF2B5EF4-FFF2-40B4-BE49-F238E27FC236}">
                <a16:creationId xmlns:a16="http://schemas.microsoft.com/office/drawing/2014/main" id="{CBF84EF2-C624-9871-91A5-DB747F107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2" t="59698" r="50482" b="28077"/>
          <a:stretch/>
        </p:blipFill>
        <p:spPr>
          <a:xfrm>
            <a:off x="8276065" y="5033062"/>
            <a:ext cx="3915935" cy="13771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D9E087-7F97-7E52-B76F-FB1D6A4B3F49}"/>
              </a:ext>
            </a:extLst>
          </p:cNvPr>
          <p:cNvSpPr txBox="1"/>
          <p:nvPr/>
        </p:nvSpPr>
        <p:spPr>
          <a:xfrm>
            <a:off x="675331" y="2571059"/>
            <a:ext cx="26628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0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Boundary conditions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4447BF-85A2-C5B0-A2E5-BE78DFD1B479}"/>
              </a:ext>
            </a:extLst>
          </p:cNvPr>
          <p:cNvSpPr txBox="1"/>
          <p:nvPr/>
        </p:nvSpPr>
        <p:spPr>
          <a:xfrm>
            <a:off x="4998981" y="2579311"/>
            <a:ext cx="198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0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Input: Stress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8C773-935E-E506-9E03-17388953C02B}"/>
              </a:ext>
            </a:extLst>
          </p:cNvPr>
          <p:cNvSpPr txBox="1"/>
          <p:nvPr/>
        </p:nvSpPr>
        <p:spPr>
          <a:xfrm>
            <a:off x="8487311" y="2632673"/>
            <a:ext cx="2813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0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Output: Optimal design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54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6DF4B-ECC5-0F2B-F17D-5AB78BFF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93A7-48F8-4554-8DA5-A94F664E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Challenges in Topology Optimization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EF14D4B-6F44-B1D7-2568-63ADC009A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 200 training: Latin Hypercube</a:t>
            </a:r>
          </a:p>
          <a:p>
            <a:r>
              <a:rPr lang="en-US"/>
              <a:t> Input: 01 channel</a:t>
            </a:r>
          </a:p>
          <a:p>
            <a:r>
              <a:rPr lang="en-US"/>
              <a:t> Output: 01 channel</a:t>
            </a:r>
          </a:p>
          <a:p>
            <a:r>
              <a:rPr lang="en-US"/>
              <a:t> Parameters:</a:t>
            </a:r>
          </a:p>
          <a:p>
            <a:pPr lvl="1"/>
            <a:r>
              <a:rPr lang="en-US"/>
              <a:t>Stride = 1</a:t>
            </a:r>
          </a:p>
          <a:p>
            <a:pPr lvl="1"/>
            <a:r>
              <a:rPr lang="en-US"/>
              <a:t>Padding = 1</a:t>
            </a:r>
          </a:p>
          <a:p>
            <a:pPr lvl="1"/>
            <a:r>
              <a:rPr lang="en-US"/>
              <a:t>Learning rate = 1e-3</a:t>
            </a:r>
          </a:p>
          <a:p>
            <a:r>
              <a:rPr lang="en-US"/>
              <a:t> Loss function: MSE</a:t>
            </a:r>
          </a:p>
          <a:p>
            <a:r>
              <a:rPr lang="en-US"/>
              <a:t> Training time</a:t>
            </a:r>
          </a:p>
          <a:p>
            <a:pPr lvl="1"/>
            <a:r>
              <a:rPr lang="en-US"/>
              <a:t>CNN = 120s</a:t>
            </a:r>
          </a:p>
          <a:p>
            <a:pPr lvl="1"/>
            <a:r>
              <a:rPr lang="en-US"/>
              <a:t>Unet = 945s</a:t>
            </a:r>
          </a:p>
          <a:p>
            <a:endParaRPr lang="en-US"/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AAA9D-88CF-88D1-1340-438E0CD5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8</a:t>
            </a:fld>
            <a:endParaRPr lang="en-US"/>
          </a:p>
        </p:txBody>
      </p:sp>
      <p:sp>
        <p:nvSpPr>
          <p:cNvPr id="8" name="Google Shape;148;p6">
            <a:extLst>
              <a:ext uri="{FF2B5EF4-FFF2-40B4-BE49-F238E27FC236}">
                <a16:creationId xmlns:a16="http://schemas.microsoft.com/office/drawing/2014/main" id="{28E83CCE-84DD-673B-5BA4-8D62893A7161}"/>
              </a:ext>
            </a:extLst>
          </p:cNvPr>
          <p:cNvSpPr txBox="1">
            <a:spLocks/>
          </p:cNvSpPr>
          <p:nvPr/>
        </p:nvSpPr>
        <p:spPr>
          <a:xfrm>
            <a:off x="550416" y="60172"/>
            <a:ext cx="11091909" cy="8275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</a:pPr>
            <a:r>
              <a:rPr lang="en-US"/>
              <a:t>Dataset and Training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0C8AC-C461-5419-E4AC-8C6ADEBC2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208" y="1440768"/>
            <a:ext cx="7630037" cy="500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9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D7EB-7CCA-778B-6E46-93F21EE9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4B62-F7D6-95FF-778E-E0DD2E38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Challenges in Topology Optimization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F205FB-7DFF-9723-7D9E-B6963F2DE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16" y="942293"/>
            <a:ext cx="11091909" cy="5308541"/>
          </a:xfrm>
        </p:spPr>
        <p:txBody>
          <a:bodyPr/>
          <a:lstStyle/>
          <a:p>
            <a:r>
              <a:rPr lang="en-US"/>
              <a:t> 50 dataset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6C5BC-F01E-240D-B041-7E959D20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9</a:t>
            </a:fld>
            <a:endParaRPr lang="en-US"/>
          </a:p>
        </p:txBody>
      </p:sp>
      <p:sp>
        <p:nvSpPr>
          <p:cNvPr id="8" name="Google Shape;148;p6">
            <a:extLst>
              <a:ext uri="{FF2B5EF4-FFF2-40B4-BE49-F238E27FC236}">
                <a16:creationId xmlns:a16="http://schemas.microsoft.com/office/drawing/2014/main" id="{0146AD61-AE2C-A1B6-5F4F-CB28C2525DE2}"/>
              </a:ext>
            </a:extLst>
          </p:cNvPr>
          <p:cNvSpPr txBox="1">
            <a:spLocks/>
          </p:cNvSpPr>
          <p:nvPr/>
        </p:nvSpPr>
        <p:spPr>
          <a:xfrm>
            <a:off x="550416" y="60172"/>
            <a:ext cx="11091909" cy="8275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</a:pPr>
            <a:r>
              <a:rPr lang="en-US"/>
              <a:t>Testing data</a:t>
            </a:r>
            <a:endParaRPr lang="en-US" dirty="0"/>
          </a:p>
        </p:txBody>
      </p:sp>
      <p:pic>
        <p:nvPicPr>
          <p:cNvPr id="7" name="Picture 6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F7AE1049-B69A-7736-397D-22897366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726" y="1090484"/>
            <a:ext cx="7821996" cy="553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3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177B-D222-A46A-D026-6F5B932E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4029-C59F-A460-7EE5-4F6FC2582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Challenges in Topology Optimization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5138363-C2C4-57DE-39CC-6F1B6BA36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82" y="1012055"/>
            <a:ext cx="3160109" cy="5308541"/>
          </a:xfrm>
        </p:spPr>
        <p:txBody>
          <a:bodyPr/>
          <a:lstStyle/>
          <a:p>
            <a:r>
              <a:rPr lang="en-US"/>
              <a:t> Times:</a:t>
            </a:r>
          </a:p>
          <a:p>
            <a:pPr lvl="1"/>
            <a:r>
              <a:rPr lang="en-US"/>
              <a:t> TO = 137 s</a:t>
            </a:r>
          </a:p>
          <a:p>
            <a:pPr lvl="1"/>
            <a:r>
              <a:rPr lang="en-US"/>
              <a:t> CNN = 0.005 s</a:t>
            </a:r>
          </a:p>
          <a:p>
            <a:pPr lvl="1"/>
            <a:r>
              <a:rPr lang="en-US"/>
              <a:t> Unet = 0.001 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589B0-FA2D-E0BD-A173-603856EC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10</a:t>
            </a:fld>
            <a:endParaRPr lang="en-US"/>
          </a:p>
        </p:txBody>
      </p:sp>
      <p:sp>
        <p:nvSpPr>
          <p:cNvPr id="8" name="Google Shape;148;p6">
            <a:extLst>
              <a:ext uri="{FF2B5EF4-FFF2-40B4-BE49-F238E27FC236}">
                <a16:creationId xmlns:a16="http://schemas.microsoft.com/office/drawing/2014/main" id="{273A8EC4-AAAA-257D-FA44-978574A84901}"/>
              </a:ext>
            </a:extLst>
          </p:cNvPr>
          <p:cNvSpPr txBox="1">
            <a:spLocks/>
          </p:cNvSpPr>
          <p:nvPr/>
        </p:nvSpPr>
        <p:spPr>
          <a:xfrm>
            <a:off x="550416" y="60172"/>
            <a:ext cx="11091909" cy="8275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</a:pPr>
            <a:r>
              <a:rPr lang="en-US"/>
              <a:t>Prediction</a:t>
            </a:r>
            <a:endParaRPr lang="en-US" dirty="0"/>
          </a:p>
        </p:txBody>
      </p:sp>
      <p:pic>
        <p:nvPicPr>
          <p:cNvPr id="15" name="Picture 14" descr="A screenshot of a graph&#10;&#10;Description automatically generated">
            <a:extLst>
              <a:ext uri="{FF2B5EF4-FFF2-40B4-BE49-F238E27FC236}">
                <a16:creationId xmlns:a16="http://schemas.microsoft.com/office/drawing/2014/main" id="{D6E573ED-DBF5-A102-D961-126063075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491" y="835015"/>
            <a:ext cx="8381487" cy="560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6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F7F9-F498-4E4A-5BD9-3F1E5375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BB38-12B2-3245-ADE6-E4BB5E93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Challenges in Topology Optimization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09CABC-EFB7-3D0D-5DD6-3EF37C0C5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45" y="1012055"/>
            <a:ext cx="11091909" cy="53085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/>
              <a:t> Hyperparameter tunning</a:t>
            </a:r>
          </a:p>
          <a:p>
            <a:pPr>
              <a:lnSpc>
                <a:spcPct val="100000"/>
              </a:lnSpc>
            </a:pPr>
            <a:r>
              <a:rPr lang="en-US"/>
              <a:t> Dataset: Increase number of dataset and 3D models</a:t>
            </a:r>
          </a:p>
          <a:p>
            <a:pPr>
              <a:lnSpc>
                <a:spcPct val="100000"/>
              </a:lnSpc>
            </a:pPr>
            <a:r>
              <a:rPr lang="en-US"/>
              <a:t> Data augmentation: noise, rotation</a:t>
            </a:r>
          </a:p>
          <a:p>
            <a:pPr>
              <a:lnSpc>
                <a:spcPct val="100000"/>
              </a:lnSpc>
            </a:pPr>
            <a:r>
              <a:rPr lang="en-US"/>
              <a:t> Different models: Diffusions</a:t>
            </a:r>
          </a:p>
          <a:p>
            <a:pPr>
              <a:lnSpc>
                <a:spcPct val="100000"/>
              </a:lnSpc>
            </a:pPr>
            <a:r>
              <a:rPr lang="en-US"/>
              <a:t> My codes: </a:t>
            </a:r>
            <a:r>
              <a:rPr lang="en-US">
                <a:hlinkClick r:id="rId3"/>
              </a:rPr>
              <a:t>https://github.com/sy-nguyen-van/Deep_Learning_Sy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/>
              <a:t> My thought:</a:t>
            </a:r>
          </a:p>
          <a:p>
            <a:pPr lvl="1">
              <a:lnSpc>
                <a:spcPct val="100000"/>
              </a:lnSpc>
            </a:pPr>
            <a:r>
              <a:rPr lang="en-US"/>
              <a:t>DL cannot replace topology optimization (TOP)</a:t>
            </a:r>
          </a:p>
          <a:p>
            <a:pPr lvl="1">
              <a:lnSpc>
                <a:spcPct val="100000"/>
              </a:lnSpc>
            </a:pPr>
            <a:r>
              <a:rPr lang="en-US"/>
              <a:t>Because it still requires dataset obtained from TOP</a:t>
            </a:r>
          </a:p>
          <a:p>
            <a:pPr lvl="1">
              <a:lnSpc>
                <a:spcPct val="100000"/>
              </a:lnSpc>
            </a:pPr>
            <a:r>
              <a:rPr lang="en-US"/>
              <a:t>May be in the future, when we have enough data, DL will exceed TOP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B9EA9-9C1B-6575-92E7-54083F49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11</a:t>
            </a:fld>
            <a:endParaRPr lang="en-US"/>
          </a:p>
        </p:txBody>
      </p:sp>
      <p:sp>
        <p:nvSpPr>
          <p:cNvPr id="8" name="Google Shape;148;p6">
            <a:extLst>
              <a:ext uri="{FF2B5EF4-FFF2-40B4-BE49-F238E27FC236}">
                <a16:creationId xmlns:a16="http://schemas.microsoft.com/office/drawing/2014/main" id="{BC733281-4B8E-468D-6460-9FFA07DB9536}"/>
              </a:ext>
            </a:extLst>
          </p:cNvPr>
          <p:cNvSpPr txBox="1">
            <a:spLocks/>
          </p:cNvSpPr>
          <p:nvPr/>
        </p:nvSpPr>
        <p:spPr>
          <a:xfrm>
            <a:off x="550416" y="60172"/>
            <a:ext cx="11091909" cy="8275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Clr>
                <a:srgbClr val="FFFFFF"/>
              </a:buClr>
              <a:buSzPct val="100000"/>
              <a:buFont typeface="Arial"/>
              <a:buNone/>
            </a:pPr>
            <a:r>
              <a:rPr lang="en-US"/>
              <a:t>Conclusion and future 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1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2418</TotalTime>
  <Words>588</Words>
  <Application>Microsoft Office PowerPoint</Application>
  <PresentationFormat>Widescreen</PresentationFormat>
  <Paragraphs>125</Paragraphs>
  <Slides>11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How to create lighter and safer structures ?</vt:lpstr>
      <vt:lpstr>Topology optimization</vt:lpstr>
      <vt:lpstr>Applications of topology optimization</vt:lpstr>
      <vt:lpstr>Challenges in Topology Optimization</vt:lpstr>
      <vt:lpstr>Proposed deep learning</vt:lpstr>
      <vt:lpstr>Dataset</vt:lpstr>
      <vt:lpstr>Challenges in Topology Optimization</vt:lpstr>
      <vt:lpstr>Challenges in Topology Optimization</vt:lpstr>
      <vt:lpstr>Challenges in Topology Optimization</vt:lpstr>
      <vt:lpstr>Challenges in Topology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Nguyen-Van, Sy</dc:creator>
  <cp:lastModifiedBy>Nguyen-Van, Sy</cp:lastModifiedBy>
  <cp:revision>914</cp:revision>
  <cp:lastPrinted>2025-10-16T01:53:17Z</cp:lastPrinted>
  <dcterms:created xsi:type="dcterms:W3CDTF">2025-10-16T01:46:15Z</dcterms:created>
  <dcterms:modified xsi:type="dcterms:W3CDTF">2025-11-19T20:16:14Z</dcterms:modified>
</cp:coreProperties>
</file>