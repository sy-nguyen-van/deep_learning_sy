
<file path=[Content_Types].xml><?xml version="1.0" encoding="utf-8"?>
<Types xmlns="http://schemas.openxmlformats.org/package/2006/content-types">
  <Default Extension="jpe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336" r:id="rId2"/>
    <p:sldId id="261" r:id="rId3"/>
    <p:sldId id="321" r:id="rId4"/>
    <p:sldId id="323" r:id="rId5"/>
    <p:sldId id="324" r:id="rId6"/>
    <p:sldId id="337" r:id="rId7"/>
    <p:sldId id="338" r:id="rId8"/>
    <p:sldId id="339" r:id="rId9"/>
    <p:sldId id="341" r:id="rId10"/>
    <p:sldId id="340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77845" autoAdjust="0"/>
  </p:normalViewPr>
  <p:slideViewPr>
    <p:cSldViewPr snapToGrid="0">
      <p:cViewPr varScale="1">
        <p:scale>
          <a:sx n="82" d="100"/>
          <a:sy n="82" d="100"/>
        </p:scale>
        <p:origin x="1632" y="96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heme" Target="theme/theme1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54D538B-3175-4DDF-87B7-42A6A32330D3}" type="datetimeFigureOut">
              <a:rPr lang="en-US" smtClean="0"/>
              <a:t>11/19/2025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8AB71B9-4C9B-475D-A281-A9D7C3DA304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490051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hangingPunct="1">
              <a:lnSpc>
                <a:spcPct val="160000"/>
              </a:lnSpc>
            </a:pPr>
            <a:r>
              <a:rPr lang="en-US"/>
              <a:t>Hello everyone, today, I am going to talk about “</a:t>
            </a:r>
            <a:r>
              <a:rPr lang="en-US" sz="1200">
                <a:solidFill>
                  <a:srgbClr val="C00000"/>
                </a:solidFill>
                <a:latin typeface="+mj-lt"/>
              </a:rPr>
              <a:t>Multiscale Topology Optimization of Structures </a:t>
            </a:r>
          </a:p>
          <a:p>
            <a:pPr hangingPunct="1">
              <a:lnSpc>
                <a:spcPct val="160000"/>
              </a:lnSpc>
            </a:pPr>
            <a:r>
              <a:rPr lang="en-US" sz="1200">
                <a:solidFill>
                  <a:srgbClr val="C00000"/>
                </a:solidFill>
                <a:latin typeface="+mj-lt"/>
              </a:rPr>
              <a:t>Made of Triply Periodic Minimal Surface (TPMS) Lattices”</a:t>
            </a:r>
            <a:endParaRPr lang="en-US" sz="80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56E773CC-5BAC-4478-834C-828C3C73DC99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9780322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 With that, from perspective view of mechanical designers, one of the main question is that how can you design TPMS structures?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 Right now, we have two methods to design TPMS: Functional grading and topology optimization.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 I will talk more details about the advantages and disadvantages of these methods in Section 3</a:t>
            </a:r>
            <a:endParaRPr dirty="0"/>
          </a:p>
        </p:txBody>
      </p:sp>
      <p:sp>
        <p:nvSpPr>
          <p:cNvPr id="146" name="Google Shape;146;p6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32802740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43">
          <a:extLst>
            <a:ext uri="{FF2B5EF4-FFF2-40B4-BE49-F238E27FC236}">
              <a16:creationId xmlns:a16="http://schemas.microsoft.com/office/drawing/2014/main" id="{B38E64AB-43D9-DC4F-707E-9570727B813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6:notes">
            <a:extLst>
              <a:ext uri="{FF2B5EF4-FFF2-40B4-BE49-F238E27FC236}">
                <a16:creationId xmlns:a16="http://schemas.microsoft.com/office/drawing/2014/main" id="{6903F537-3964-9E32-A0D4-9B14BE746CA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145" name="Google Shape;145;p6:notes">
            <a:extLst>
              <a:ext uri="{FF2B5EF4-FFF2-40B4-BE49-F238E27FC236}">
                <a16:creationId xmlns:a16="http://schemas.microsoft.com/office/drawing/2014/main" id="{22F5855D-BE0D-B8DF-D887-EDD3183F96EA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 With that, from perspective view of mechanical designers, one of the main question is that how can you design TPMS structures?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 Right now, we have two methods to design TPMS: Functional grading and topology optimization.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- I will talk more details about the advantages and disadvantages of these methods in Section 3</a:t>
            </a:r>
            <a:endParaRPr dirty="0"/>
          </a:p>
        </p:txBody>
      </p:sp>
      <p:sp>
        <p:nvSpPr>
          <p:cNvPr id="146" name="Google Shape;146;p6:notes">
            <a:extLst>
              <a:ext uri="{FF2B5EF4-FFF2-40B4-BE49-F238E27FC236}">
                <a16:creationId xmlns:a16="http://schemas.microsoft.com/office/drawing/2014/main" id="{8138FC20-A083-6061-3812-56C8C352D87A}"/>
              </a:ext>
            </a:extLst>
          </p:cNvPr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42899647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160567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C8598C-73A8-9864-2E5E-A425FE0A4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8D62CF5-321B-9B5B-9CFA-A90E189E207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7374DE0-7A5C-75C6-B8A0-DF11EAA36120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E97EB99-8831-0E84-E1C8-5A5D3AEB98D6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6678167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1C5A9B-BD0C-4B41-68E9-CE610CB300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94183A0E-40E7-182A-0B62-75F5E1BD7C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372861B-53DC-3AF4-16B3-37C86B95D49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ED6F032-910B-CEFF-6CEF-93A0F00C1A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943696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AAB468-B472-14D2-7B96-E35193B4E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150C882F-471A-A8A2-C5E0-F657E5377917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D09C43D-6335-6D8C-776D-39864A2949B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COLOR SCALE</a:t>
            </a:r>
          </a:p>
          <a:p>
            <a:r>
              <a:rPr lang="en-US"/>
              <a:t>R2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D03022A-6E3B-5324-8A7E-ECDF8945D4B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65449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7783980-20BB-9411-9013-6D8DF1EACF3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170BA7B-EE78-8F7E-153A-85C9375B4943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5B1BECD-824D-0693-8F93-6A2F240CF72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COLOR SCALE</a:t>
            </a:r>
          </a:p>
          <a:p>
            <a:r>
              <a:rPr lang="en-US"/>
              <a:t>R2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A2D4E9A-DDFD-52E1-DE25-80EB687C118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948558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6CDE12-6F20-0B0A-DE4B-50FA7DE43D3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C2230056-AA7E-DF31-2BE8-ED8D486F291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</p:spPr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D15E752C-9614-E6EA-B7E9-C9BFA14B8E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69CA470-B308-A63A-73EA-78C2075C234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DBDD7B-CB95-4F58-8D9A-A8040E25F7E6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425107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E1953E9-5059-EAEF-9AD5-F243E8EF661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49FBB1AB-E425-D164-02A5-8FB60F83E35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11" indent="0" algn="ctr">
              <a:buNone/>
              <a:defRPr sz="2000"/>
            </a:lvl2pPr>
            <a:lvl3pPr marL="914423" indent="0" algn="ctr">
              <a:buNone/>
              <a:defRPr sz="1801"/>
            </a:lvl3pPr>
            <a:lvl4pPr marL="1371634" indent="0" algn="ctr">
              <a:buNone/>
              <a:defRPr sz="1600"/>
            </a:lvl4pPr>
            <a:lvl5pPr marL="1828846" indent="0" algn="ctr">
              <a:buNone/>
              <a:defRPr sz="1600"/>
            </a:lvl5pPr>
            <a:lvl6pPr marL="2286057" indent="0" algn="ctr">
              <a:buNone/>
              <a:defRPr sz="1600"/>
            </a:lvl6pPr>
            <a:lvl7pPr marL="2743269" indent="0" algn="ctr">
              <a:buNone/>
              <a:defRPr sz="1600"/>
            </a:lvl7pPr>
            <a:lvl8pPr marL="3200480" indent="0" algn="ctr">
              <a:buNone/>
              <a:defRPr sz="1600"/>
            </a:lvl8pPr>
            <a:lvl9pPr marL="3657691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653055-EDD0-F112-5478-08F05697BC8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38201" y="6356352"/>
            <a:ext cx="2743200" cy="365125"/>
          </a:xfrm>
          <a:prstGeom prst="rect">
            <a:avLst/>
          </a:prstGeom>
        </p:spPr>
        <p:txBody>
          <a:bodyPr/>
          <a:lstStyle/>
          <a:p>
            <a:fld id="{4A7FA793-001C-4C52-91C3-2CAB0B3E506D}" type="datetime1">
              <a:rPr lang="en-US" smtClean="0"/>
              <a:t>11/19/2025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EDBCDD4-1421-84A7-2436-1FA7196482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038601" y="6356352"/>
            <a:ext cx="4114800" cy="365125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4DCBE69-E48B-DB4D-A460-3FF28D960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8E686C-0B8C-4382-B4A7-D93C5C26B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10853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AFDF7-C3B8-0FB2-5590-4F33598A769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50416" y="60172"/>
            <a:ext cx="11091909" cy="827597"/>
          </a:xfrm>
        </p:spPr>
        <p:txBody>
          <a:bodyPr/>
          <a:lstStyle>
            <a:lvl1pPr algn="ctr">
              <a:defRPr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2B8A01-3F5F-893A-0C19-8417B8DBB665}"/>
              </a:ext>
            </a:extLst>
          </p:cNvPr>
          <p:cNvSpPr>
            <a:spLocks noGrp="1"/>
          </p:cNvSpPr>
          <p:nvPr>
            <p:ph idx="1" hasCustomPrompt="1"/>
          </p:nvPr>
        </p:nvSpPr>
        <p:spPr>
          <a:xfrm>
            <a:off x="550046" y="1136342"/>
            <a:ext cx="11091909" cy="5308541"/>
          </a:xfrm>
        </p:spPr>
        <p:txBody>
          <a:bodyPr/>
          <a:lstStyle>
            <a:lvl1pPr marL="228606" indent="-228606">
              <a:buClr>
                <a:srgbClr val="C00000"/>
              </a:buClr>
              <a:buSzPct val="80000"/>
              <a:buFont typeface="Wingdings" panose="05000000000000000000" pitchFamily="2" charset="2"/>
              <a:buChar char=""/>
              <a:defRPr sz="2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  <a:lvl2pPr marL="685818" indent="-228606">
              <a:buClr>
                <a:srgbClr val="C00000"/>
              </a:buClr>
              <a:buSzPct val="60000"/>
              <a:buFont typeface="Wingdings" panose="05000000000000000000" pitchFamily="2" charset="2"/>
              <a:buChar char="ü"/>
              <a:defRPr sz="22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2pPr>
            <a:lvl3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3pPr>
            <a:lvl4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4pPr>
            <a:lvl5pPr>
              <a:defRPr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5pPr>
          </a:lstStyle>
          <a:p>
            <a:pPr lvl="0"/>
            <a:r>
              <a:rPr lang="en-US"/>
              <a:t>  Click to edit Master text styles</a:t>
            </a:r>
          </a:p>
          <a:p>
            <a:pPr lvl="1"/>
            <a:r>
              <a:rPr lang="en-US"/>
              <a:t>  Second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9594DB1-28F0-F82E-5A7C-27F9F11A60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641955" y="6444883"/>
            <a:ext cx="549676" cy="365125"/>
          </a:xfrm>
        </p:spPr>
        <p:txBody>
          <a:bodyPr/>
          <a:lstStyle>
            <a:lvl1pPr algn="ctr">
              <a:defRPr sz="16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fld id="{1C8E686C-0B8C-4382-B4A7-D93C5C26B80B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88695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B64732F-461E-2E8B-138C-26776931BBD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1" y="365127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D475924-826E-BA37-7D92-78C61A1538C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F0F4B92-4D77-7D91-BDE0-C8348DA9713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1" y="6356352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C8E686C-0B8C-4382-B4A7-D93C5C26B80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588677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hdr="0" ftr="0" dt="0"/>
  <p:txStyles>
    <p:titleStyle>
      <a:lvl1pPr algn="l" defTabSz="914423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6" indent="-228606" algn="l" defTabSz="914423" rtl="0" eaLnBrk="1" latinLnBrk="0" hangingPunct="1">
        <a:lnSpc>
          <a:spcPct val="90000"/>
        </a:lnSpc>
        <a:spcBef>
          <a:spcPts val="1001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18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29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41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2057452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514663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971875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429086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886298" indent="-228606" algn="l" defTabSz="914423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1pPr>
      <a:lvl2pPr marL="457211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2pPr>
      <a:lvl3pPr marL="914423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3pPr>
      <a:lvl4pPr marL="1371634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4pPr>
      <a:lvl5pPr marL="1828846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5pPr>
      <a:lvl6pPr marL="2286057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6pPr>
      <a:lvl7pPr marL="2743269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7pPr>
      <a:lvl8pPr marL="3200480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8pPr>
      <a:lvl9pPr marL="3657691" algn="l" defTabSz="914423" rtl="0" eaLnBrk="1" latinLnBrk="0" hangingPunct="1">
        <a:defRPr sz="1801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2" Type="http://schemas.openxmlformats.org/officeDocument/2006/relationships/video" Target="../media/media1.mp4"/><Relationship Id="rId1" Type="http://schemas.microsoft.com/office/2007/relationships/media" Target="../media/media1.mp4"/><Relationship Id="rId6" Type="http://schemas.openxmlformats.org/officeDocument/2006/relationships/image" Target="../media/image4.jpeg"/><Relationship Id="rId5" Type="http://schemas.openxmlformats.org/officeDocument/2006/relationships/image" Target="../media/image3.png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2.xml"/><Relationship Id="rId7" Type="http://schemas.openxmlformats.org/officeDocument/2006/relationships/image" Target="../media/image9.png"/><Relationship Id="rId2" Type="http://schemas.openxmlformats.org/officeDocument/2006/relationships/video" Target="../media/media2.mp4"/><Relationship Id="rId1" Type="http://schemas.microsoft.com/office/2007/relationships/media" Target="../media/media2.mp4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png"/><Relationship Id="rId4" Type="http://schemas.openxmlformats.org/officeDocument/2006/relationships/image" Target="../media/image11.jpe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sy-nguyen-van/Deep_Learning_Sy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1">
            <a:extLst>
              <a:ext uri="{FF2B5EF4-FFF2-40B4-BE49-F238E27FC236}">
                <a16:creationId xmlns:a16="http://schemas.microsoft.com/office/drawing/2014/main" id="{53D377F3-487E-40FB-9D5A-6225D12A97BE}"/>
              </a:ext>
            </a:extLst>
          </p:cNvPr>
          <p:cNvSpPr txBox="1">
            <a:spLocks/>
          </p:cNvSpPr>
          <p:nvPr/>
        </p:nvSpPr>
        <p:spPr>
          <a:xfrm>
            <a:off x="622300" y="479552"/>
            <a:ext cx="11004550" cy="236096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25400" tIns="25400" rIns="25400" bIns="25400" anchor="ctr">
            <a:normAutofit fontScale="97500"/>
          </a:bodyPr>
          <a:lstStyle>
            <a:lvl1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chemeClr val="accent1"/>
                </a:solidFill>
                <a:uFillTx/>
                <a:latin typeface="Factoria Ultra" pitchFamily="2" charset="77"/>
                <a:ea typeface="+mn-ea"/>
                <a:cs typeface="+mn-cs"/>
                <a:sym typeface="Helvetica Neue Medium"/>
              </a:defRPr>
            </a:lvl1pPr>
            <a:lvl2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2pPr>
            <a:lvl3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3pPr>
            <a:lvl4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4pPr>
            <a:lvl5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5pPr>
            <a:lvl6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6pPr>
            <a:lvl7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7pPr>
            <a:lvl8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8pPr>
            <a:lvl9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112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+mn-lt"/>
                <a:ea typeface="+mn-ea"/>
                <a:cs typeface="+mn-cs"/>
                <a:sym typeface="Helvetica Neue Medium"/>
              </a:defRPr>
            </a:lvl9pPr>
          </a:lstStyle>
          <a:p>
            <a:pPr hangingPunct="1">
              <a:lnSpc>
                <a:spcPct val="160000"/>
              </a:lnSpc>
            </a:pPr>
            <a:r>
              <a:rPr lang="en-US" sz="4900">
                <a:solidFill>
                  <a:srgbClr val="C00000"/>
                </a:solidFill>
                <a:latin typeface="+mj-lt"/>
              </a:rPr>
              <a:t>Unet beats CNN in topology optimization</a:t>
            </a:r>
          </a:p>
          <a:p>
            <a:pPr hangingPunct="1">
              <a:lnSpc>
                <a:spcPct val="160000"/>
              </a:lnSpc>
            </a:pPr>
            <a:endParaRPr lang="en-US" sz="3000" dirty="0">
              <a:solidFill>
                <a:srgbClr val="C00000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14" name="Text Placeholder 13">
            <a:extLst>
              <a:ext uri="{FF2B5EF4-FFF2-40B4-BE49-F238E27FC236}">
                <a16:creationId xmlns:a16="http://schemas.microsoft.com/office/drawing/2014/main" id="{CCE89223-4EB5-431F-89DD-4EE178F23F17}"/>
              </a:ext>
            </a:extLst>
          </p:cNvPr>
          <p:cNvSpPr>
            <a:spLocks noGrp="1"/>
          </p:cNvSpPr>
          <p:nvPr>
            <p:ph type="body" sz="quarter" idx="1"/>
          </p:nvPr>
        </p:nvSpPr>
        <p:spPr>
          <a:xfrm>
            <a:off x="622300" y="2840514"/>
            <a:ext cx="11004550" cy="512064"/>
          </a:xfrm>
        </p:spPr>
        <p:txBody>
          <a:bodyPr>
            <a:normAutofit/>
          </a:bodyPr>
          <a:lstStyle/>
          <a:p>
            <a:r>
              <a:rPr lang="en-US" sz="2800" b="1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 Nguyen-Van</a:t>
            </a:r>
            <a:endParaRPr lang="en-US" sz="2800" b="1" dirty="0">
              <a:solidFill>
                <a:schemeClr val="bg2">
                  <a:lumMod val="10000"/>
                </a:schemeClr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17" name="Text Placeholder 13">
            <a:extLst>
              <a:ext uri="{FF2B5EF4-FFF2-40B4-BE49-F238E27FC236}">
                <a16:creationId xmlns:a16="http://schemas.microsoft.com/office/drawing/2014/main" id="{7F56D77A-AFA8-4C87-94FE-5F04F9BF1E57}"/>
              </a:ext>
            </a:extLst>
          </p:cNvPr>
          <p:cNvSpPr txBox="1">
            <a:spLocks/>
          </p:cNvSpPr>
          <p:nvPr/>
        </p:nvSpPr>
        <p:spPr>
          <a:xfrm>
            <a:off x="593725" y="4322176"/>
            <a:ext cx="11004550" cy="909428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25400" tIns="25400" rIns="25400" bIns="25400" anchor="t">
            <a:normAutofit fontScale="92500" lnSpcReduction="20000"/>
          </a:bodyPr>
          <a:lstStyle>
            <a:lvl1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3810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4445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5080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5715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hangingPunct="1">
              <a:lnSpc>
                <a:spcPct val="150000"/>
              </a:lnSpc>
            </a:pPr>
            <a:r>
              <a:rPr lang="en-US" sz="240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Final project: Deep Learning</a:t>
            </a:r>
          </a:p>
          <a:p>
            <a:pPr hangingPunct="1">
              <a:lnSpc>
                <a:spcPct val="150000"/>
              </a:lnSpc>
            </a:pPr>
            <a:r>
              <a:rPr lang="en-US" sz="240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November, </a:t>
            </a:r>
            <a:r>
              <a:rPr lang="en-US" sz="2400" dirty="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2025</a:t>
            </a:r>
          </a:p>
        </p:txBody>
      </p:sp>
      <p:sp>
        <p:nvSpPr>
          <p:cNvPr id="5" name="Slide Number Placeholder 1">
            <a:extLst>
              <a:ext uri="{FF2B5EF4-FFF2-40B4-BE49-F238E27FC236}">
                <a16:creationId xmlns:a16="http://schemas.microsoft.com/office/drawing/2014/main" id="{E0A2D3DF-AF66-2B41-2AF4-A9CFB46C876D}"/>
              </a:ext>
            </a:extLst>
          </p:cNvPr>
          <p:cNvSpPr>
            <a:spLocks noGrp="1"/>
          </p:cNvSpPr>
          <p:nvPr>
            <p:ph type="sldNum" idx="12"/>
          </p:nvPr>
        </p:nvSpPr>
        <p:spPr>
          <a:xfrm>
            <a:off x="11369336" y="6492875"/>
            <a:ext cx="822664" cy="365125"/>
          </a:xfrm>
        </p:spPr>
        <p:txBody>
          <a:bodyPr/>
          <a:lstStyle/>
          <a:p>
            <a:fld id="{AF88E988-FB04-AB4E-BE5A-59F242AF7F7A}" type="slidenum">
              <a:rPr lang="en-US" smtClean="0"/>
              <a:pPr/>
              <a:t>1</a:t>
            </a:fld>
            <a:endParaRPr lang="en-US"/>
          </a:p>
        </p:txBody>
      </p:sp>
      <p:sp>
        <p:nvSpPr>
          <p:cNvPr id="4" name="Text Placeholder 13">
            <a:extLst>
              <a:ext uri="{FF2B5EF4-FFF2-40B4-BE49-F238E27FC236}">
                <a16:creationId xmlns:a16="http://schemas.microsoft.com/office/drawing/2014/main" id="{82D61EFD-467C-CFB9-E59F-1BF467A177A6}"/>
              </a:ext>
            </a:extLst>
          </p:cNvPr>
          <p:cNvSpPr txBox="1">
            <a:spLocks/>
          </p:cNvSpPr>
          <p:nvPr/>
        </p:nvSpPr>
        <p:spPr>
          <a:xfrm>
            <a:off x="565150" y="3425730"/>
            <a:ext cx="11004550" cy="61024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25400" tIns="25400" rIns="25400" bIns="25400" anchor="t">
            <a:normAutofit/>
          </a:bodyPr>
          <a:lstStyle>
            <a:lvl1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1pPr>
            <a:lvl2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2pPr>
            <a:lvl3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3pPr>
            <a:lvl4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4pPr>
            <a:lvl5pPr marL="0" marR="0" indent="0" algn="ctr" defTabSz="825500" rtl="0" latinLnBrk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sz="5400" b="0" i="0" u="none" strike="noStrike" cap="none" spc="0" baseline="0">
                <a:ln>
                  <a:noFill/>
                </a:ln>
                <a:solidFill>
                  <a:schemeClr val="tx1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5pPr>
            <a:lvl6pPr marL="3810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6pPr>
            <a:lvl7pPr marL="4445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7pPr>
            <a:lvl8pPr marL="5080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8pPr>
            <a:lvl9pPr marL="5715000" marR="0" indent="-635000" algn="l" defTabSz="825500" rtl="0" latinLnBrk="0">
              <a:lnSpc>
                <a:spcPct val="100000"/>
              </a:lnSpc>
              <a:spcBef>
                <a:spcPts val="5900"/>
              </a:spcBef>
              <a:spcAft>
                <a:spcPts val="0"/>
              </a:spcAft>
              <a:buClrTx/>
              <a:buSzPct val="125000"/>
              <a:buFontTx/>
              <a:buChar char="•"/>
              <a:tabLst/>
              <a:defRPr sz="4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Helvetica Neue"/>
                <a:ea typeface="Helvetica Neue"/>
                <a:cs typeface="Helvetica Neue"/>
                <a:sym typeface="Helvetica Neue"/>
              </a:defRPr>
            </a:lvl9pPr>
          </a:lstStyle>
          <a:p>
            <a:pPr hangingPunct="1"/>
            <a:r>
              <a:rPr lang="en-US" sz="2400">
                <a:solidFill>
                  <a:schemeClr val="bg2">
                    <a:lumMod val="10000"/>
                  </a:schemeClr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School of Mechanical, Aerospace and Manufacturing Engineering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le 6">
            <a:extLst>
              <a:ext uri="{FF2B5EF4-FFF2-40B4-BE49-F238E27FC236}">
                <a16:creationId xmlns:a16="http://schemas.microsoft.com/office/drawing/2014/main" id="{40515720-378D-2E2B-AAC8-7560D586A1B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How to create lighter and safer structures ?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B2BA8B71-5BCC-5ED0-A95B-A727EB1EC68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/>
              <a:t> How to create optimal designs:</a:t>
            </a:r>
          </a:p>
          <a:p>
            <a:pPr lvl="1"/>
            <a:r>
              <a:rPr lang="en-US"/>
              <a:t>As lightweight as possible</a:t>
            </a:r>
          </a:p>
          <a:p>
            <a:pPr lvl="1"/>
            <a:r>
              <a:rPr lang="en-US"/>
              <a:t>Strong enough to ensure safety</a:t>
            </a:r>
          </a:p>
        </p:txBody>
      </p:sp>
      <p:sp>
        <p:nvSpPr>
          <p:cNvPr id="149" name="Google Shape;149;p6"/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2</a:t>
            </a:fld>
            <a:endParaRPr/>
          </a:p>
        </p:txBody>
      </p:sp>
      <p:pic>
        <p:nvPicPr>
          <p:cNvPr id="1026" name="Picture 2" descr="Photograph showing the Bayonne Bridge.">
            <a:extLst>
              <a:ext uri="{FF2B5EF4-FFF2-40B4-BE49-F238E27FC236}">
                <a16:creationId xmlns:a16="http://schemas.microsoft.com/office/drawing/2014/main" id="{3A6C2628-CE85-E047-4A45-3F38F2324D2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35263" y="2539428"/>
            <a:ext cx="4884637" cy="331178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CCAC59D7-F6A7-C061-F455-D3EFF620408C}"/>
              </a:ext>
            </a:extLst>
          </p:cNvPr>
          <p:cNvSpPr txBox="1"/>
          <p:nvPr/>
        </p:nvSpPr>
        <p:spPr>
          <a:xfrm>
            <a:off x="2236177" y="6099785"/>
            <a:ext cx="89388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0" i="0">
                <a:solidFill>
                  <a:srgbClr val="333333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Bridge</a:t>
            </a:r>
            <a:endParaRPr 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620F047-B757-AA72-6AA9-DA117DFA0066}"/>
              </a:ext>
            </a:extLst>
          </p:cNvPr>
          <p:cNvSpPr txBox="1"/>
          <p:nvPr/>
        </p:nvSpPr>
        <p:spPr>
          <a:xfrm>
            <a:off x="8132886" y="6073448"/>
            <a:ext cx="15034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>
                <a:solidFill>
                  <a:srgbClr val="333333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Aircraft wings</a:t>
            </a:r>
            <a:endParaRPr 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B3B3B1B-8019-2A6D-4135-650453D6CBFB}"/>
              </a:ext>
            </a:extLst>
          </p:cNvPr>
          <p:cNvSpPr txBox="1"/>
          <p:nvPr/>
        </p:nvSpPr>
        <p:spPr>
          <a:xfrm>
            <a:off x="1441938" y="6428496"/>
            <a:ext cx="24823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www.usa.skanska.com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51BE4BF-AA6D-E18A-ED4B-216A090E2A17}"/>
              </a:ext>
            </a:extLst>
          </p:cNvPr>
          <p:cNvSpPr txBox="1"/>
          <p:nvPr/>
        </p:nvSpPr>
        <p:spPr>
          <a:xfrm>
            <a:off x="7471918" y="6442780"/>
            <a:ext cx="312969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https://pilotinstitute.com/</a:t>
            </a:r>
          </a:p>
        </p:txBody>
      </p:sp>
      <p:pic>
        <p:nvPicPr>
          <p:cNvPr id="10" name="Picture 2" descr="Parts-of-a-Wing">
            <a:extLst>
              <a:ext uri="{FF2B5EF4-FFF2-40B4-BE49-F238E27FC236}">
                <a16:creationId xmlns:a16="http://schemas.microsoft.com/office/drawing/2014/main" id="{7DD8013A-68EC-46C5-944B-2978BBC689A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63548" y="2904553"/>
            <a:ext cx="6146433" cy="26890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E01AA-7DBC-BFB3-E3E5-F5E5A1889F1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Topology </a:t>
            </a:r>
            <a:r>
              <a:rPr lang="en-US" dirty="0"/>
              <a:t>optimization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FFB48-0889-5871-06B6-7D84B0E3C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3</a:t>
            </a:fld>
            <a:endParaRPr 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D86AD48F-D5F2-0E9F-84FA-E54411091813}"/>
              </a:ext>
            </a:extLst>
          </p:cNvPr>
          <p:cNvSpPr txBox="1"/>
          <p:nvPr/>
        </p:nvSpPr>
        <p:spPr>
          <a:xfrm>
            <a:off x="213145" y="6436613"/>
            <a:ext cx="338139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US" kern="1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https://www.jorislaarman.com/</a:t>
            </a:r>
            <a:endParaRPr lang="en-US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572ADEFF-3F92-4BB8-FD51-212228E06232}"/>
              </a:ext>
            </a:extLst>
          </p:cNvPr>
          <p:cNvSpPr txBox="1"/>
          <p:nvPr/>
        </p:nvSpPr>
        <p:spPr>
          <a:xfrm>
            <a:off x="8629531" y="5853582"/>
            <a:ext cx="211204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Optimal design</a:t>
            </a:r>
            <a:endParaRPr lang="en-US" sz="2400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5" name="441346847">
            <a:hlinkClick r:id="" action="ppaction://media"/>
            <a:extLst>
              <a:ext uri="{FF2B5EF4-FFF2-40B4-BE49-F238E27FC236}">
                <a16:creationId xmlns:a16="http://schemas.microsoft.com/office/drawing/2014/main" id="{50CB63AA-2758-35A9-202E-9E4E704E5B61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 rotWithShape="1">
          <a:blip r:embed="rId5"/>
          <a:srcRect l="28215" t="18960" r="24672" b="14578"/>
          <a:stretch/>
        </p:blipFill>
        <p:spPr>
          <a:xfrm>
            <a:off x="121386" y="1237722"/>
            <a:ext cx="5968257" cy="4735875"/>
          </a:xfrm>
          <a:prstGeom prst="rect">
            <a:avLst/>
          </a:prstGeom>
        </p:spPr>
      </p:pic>
      <p:pic>
        <p:nvPicPr>
          <p:cNvPr id="5122" name="Picture 2" descr="JORIS LAARMAN | &quot;BONE&quot; CHAIR | Important Design | 20th ...">
            <a:extLst>
              <a:ext uri="{FF2B5EF4-FFF2-40B4-BE49-F238E27FC236}">
                <a16:creationId xmlns:a16="http://schemas.microsoft.com/office/drawing/2014/main" id="{CAA9FBEF-A31D-549C-768D-3724789A97E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024146" y="1152537"/>
            <a:ext cx="4523152" cy="460089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F8F6122F-8222-D7C1-A2BC-C8D6C560C4A6}"/>
              </a:ext>
            </a:extLst>
          </p:cNvPr>
          <p:cNvSpPr txBox="1"/>
          <p:nvPr/>
        </p:nvSpPr>
        <p:spPr>
          <a:xfrm>
            <a:off x="600545" y="5862825"/>
            <a:ext cx="485753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Topology optimization process</a:t>
            </a:r>
          </a:p>
        </p:txBody>
      </p:sp>
      <p:sp>
        <p:nvSpPr>
          <p:cNvPr id="9" name="Arrow: Right 8">
            <a:extLst>
              <a:ext uri="{FF2B5EF4-FFF2-40B4-BE49-F238E27FC236}">
                <a16:creationId xmlns:a16="http://schemas.microsoft.com/office/drawing/2014/main" id="{453B7396-E470-B7C0-CCBA-6BB2F4E5D068}"/>
              </a:ext>
            </a:extLst>
          </p:cNvPr>
          <p:cNvSpPr/>
          <p:nvPr/>
        </p:nvSpPr>
        <p:spPr>
          <a:xfrm>
            <a:off x="5544729" y="3452987"/>
            <a:ext cx="1199875" cy="286960"/>
          </a:xfrm>
          <a:prstGeom prst="rightArrow">
            <a:avLst/>
          </a:prstGeom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06042CF3-9DC3-C26A-2788-15365D6EA8E4}"/>
              </a:ext>
            </a:extLst>
          </p:cNvPr>
          <p:cNvSpPr txBox="1"/>
          <p:nvPr/>
        </p:nvSpPr>
        <p:spPr>
          <a:xfrm>
            <a:off x="5352998" y="2870478"/>
            <a:ext cx="157243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Topology optimization</a:t>
            </a:r>
          </a:p>
        </p:txBody>
      </p:sp>
    </p:spTree>
    <p:extLst>
      <p:ext uri="{BB962C8B-B14F-4D97-AF65-F5344CB8AC3E}">
        <p14:creationId xmlns:p14="http://schemas.microsoft.com/office/powerpoint/2010/main" val="71773970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3546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5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5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5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5"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47">
          <a:extLst>
            <a:ext uri="{FF2B5EF4-FFF2-40B4-BE49-F238E27FC236}">
              <a16:creationId xmlns:a16="http://schemas.microsoft.com/office/drawing/2014/main" id="{CABE309F-6F58-6C3C-5126-C78DA09BD3F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A0DCEC-C01B-95ED-EEEB-1477B148CB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Applications of topology optimization</a:t>
            </a:r>
          </a:p>
        </p:txBody>
      </p:sp>
      <p:sp>
        <p:nvSpPr>
          <p:cNvPr id="149" name="Google Shape;149;p6">
            <a:extLst>
              <a:ext uri="{FF2B5EF4-FFF2-40B4-BE49-F238E27FC236}">
                <a16:creationId xmlns:a16="http://schemas.microsoft.com/office/drawing/2014/main" id="{CE4C0D1F-61BE-6563-80C8-5FABAEABA960}"/>
              </a:ext>
            </a:extLst>
          </p:cNvPr>
          <p:cNvSpPr txBox="1">
            <a:spLocks noGrp="1"/>
          </p:cNvSpPr>
          <p:nvPr>
            <p:ph type="sldNum" sz="quarter" idx="12"/>
          </p:nvPr>
        </p:nvSpPr>
        <p:spPr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4</a:t>
            </a:fld>
            <a:endParaRPr/>
          </a:p>
        </p:txBody>
      </p:sp>
      <p:pic>
        <p:nvPicPr>
          <p:cNvPr id="2050" name="Picture 2">
            <a:extLst>
              <a:ext uri="{FF2B5EF4-FFF2-40B4-BE49-F238E27FC236}">
                <a16:creationId xmlns:a16="http://schemas.microsoft.com/office/drawing/2014/main" id="{71580599-8DC6-D580-9142-6A2EDABEA1B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467623" y="2351693"/>
            <a:ext cx="5629275" cy="234315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F78BED96-18B8-5011-715F-443977160A1D}"/>
              </a:ext>
            </a:extLst>
          </p:cNvPr>
          <p:cNvSpPr txBox="1"/>
          <p:nvPr/>
        </p:nvSpPr>
        <p:spPr>
          <a:xfrm>
            <a:off x="6467623" y="5173859"/>
            <a:ext cx="5490696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0" i="0">
                <a:solidFill>
                  <a:srgbClr val="333333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Airbus uses topology optimization in aircraft wings to  save 1000 kg of weight</a:t>
            </a:r>
            <a:endParaRPr lang="en-US" sz="2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2BA55C1D-00AF-05EB-80A8-ECF28853C6D9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2127942"/>
            <a:ext cx="5892325" cy="2795366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307E5716-DC1A-E06B-B527-D76AC0ACD117}"/>
              </a:ext>
            </a:extLst>
          </p:cNvPr>
          <p:cNvSpPr txBox="1"/>
          <p:nvPr/>
        </p:nvSpPr>
        <p:spPr>
          <a:xfrm>
            <a:off x="8208362" y="6409545"/>
            <a:ext cx="27644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0">
                <a:solidFill>
                  <a:srgbClr val="5F636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 altairhyperworks.co.uk</a:t>
            </a:r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7202754F-9598-BEB0-9EF8-67D18040315B}"/>
              </a:ext>
            </a:extLst>
          </p:cNvPr>
          <p:cNvSpPr txBox="1"/>
          <p:nvPr/>
        </p:nvSpPr>
        <p:spPr>
          <a:xfrm>
            <a:off x="0" y="6374188"/>
            <a:ext cx="2764438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>
                <a:solidFill>
                  <a:srgbClr val="5F6368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Javier et al. 2019</a:t>
            </a:r>
            <a:endParaRPr lang="en-US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94060778-1287-CB2A-DBD3-F061E34BE92E}"/>
              </a:ext>
            </a:extLst>
          </p:cNvPr>
          <p:cNvSpPr txBox="1"/>
          <p:nvPr/>
        </p:nvSpPr>
        <p:spPr>
          <a:xfrm>
            <a:off x="727668" y="5312358"/>
            <a:ext cx="3697187" cy="40011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2000" b="0" i="0">
                <a:solidFill>
                  <a:srgbClr val="333333"/>
                </a:solidFill>
                <a:effectLst/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Optimal bridge design</a:t>
            </a:r>
            <a:endParaRPr lang="en-US" sz="200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98122339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4E01AA-7DBC-BFB3-E3E5-F5E5A1889F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51101"/>
            <a:ext cx="12038029" cy="492364"/>
          </a:xfrm>
        </p:spPr>
        <p:txBody>
          <a:bodyPr>
            <a:normAutofit fontScale="90000"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Challenges in Topology Optimization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85FFB48-0889-5871-06B6-7D84B0E3C18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5</a:t>
            </a:fld>
            <a:endParaRPr lang="en-US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AF6DE3B3-DD73-3C6B-C5E3-9C31F035B39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5247" y="1457030"/>
            <a:ext cx="3400264" cy="2017666"/>
          </a:xfrm>
          <a:prstGeom prst="rect">
            <a:avLst/>
          </a:prstGeom>
        </p:spPr>
      </p:pic>
      <p:pic>
        <p:nvPicPr>
          <p:cNvPr id="16" name="Picture 15">
            <a:extLst>
              <a:ext uri="{FF2B5EF4-FFF2-40B4-BE49-F238E27FC236}">
                <a16:creationId xmlns:a16="http://schemas.microsoft.com/office/drawing/2014/main" id="{A79125EA-6E64-1C48-DD8C-0C225A7D9F96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54075" y="1610194"/>
            <a:ext cx="2855191" cy="2099073"/>
          </a:xfrm>
          <a:prstGeom prst="rect">
            <a:avLst/>
          </a:prstGeom>
        </p:spPr>
      </p:pic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5AAD5C2D-19EB-3A54-C4AA-F42075585535}"/>
              </a:ext>
            </a:extLst>
          </p:cNvPr>
          <p:cNvCxnSpPr>
            <a:cxnSpLocks/>
          </p:cNvCxnSpPr>
          <p:nvPr/>
        </p:nvCxnSpPr>
        <p:spPr>
          <a:xfrm>
            <a:off x="3582262" y="2441041"/>
            <a:ext cx="106473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>
            <a:extLst>
              <a:ext uri="{FF2B5EF4-FFF2-40B4-BE49-F238E27FC236}">
                <a16:creationId xmlns:a16="http://schemas.microsoft.com/office/drawing/2014/main" id="{81ECD1F1-1272-D073-6D63-F9CECB9FE4B9}"/>
              </a:ext>
            </a:extLst>
          </p:cNvPr>
          <p:cNvSpPr txBox="1"/>
          <p:nvPr/>
        </p:nvSpPr>
        <p:spPr>
          <a:xfrm>
            <a:off x="3260623" y="2024257"/>
            <a:ext cx="1650399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Discretization</a:t>
            </a:r>
            <a:endParaRPr lang="en-US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8A7B5625-A1D7-19AD-FFE5-B01A09AB8440}"/>
              </a:ext>
            </a:extLst>
          </p:cNvPr>
          <p:cNvSpPr txBox="1"/>
          <p:nvPr/>
        </p:nvSpPr>
        <p:spPr>
          <a:xfrm>
            <a:off x="8857315" y="2098269"/>
            <a:ext cx="2363140" cy="646331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</a:t>
            </a:r>
            <a:r>
              <a:rPr lang="en-US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Stiffness </a:t>
            </a: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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algn="ctr"/>
            <a:r>
              <a:rPr lang="en-US" b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Constraint</a:t>
            </a:r>
            <a:r>
              <a:rPr lang="en-US" i="1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: Mass </a:t>
            </a:r>
            <a:r>
              <a:rPr lang="en-US" i="1"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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37" name="Flowchart: Decision 36">
            <a:extLst>
              <a:ext uri="{FF2B5EF4-FFF2-40B4-BE49-F238E27FC236}">
                <a16:creationId xmlns:a16="http://schemas.microsoft.com/office/drawing/2014/main" id="{624EB3E3-AB51-55F4-3C89-54D6CDFB11F8}"/>
              </a:ext>
            </a:extLst>
          </p:cNvPr>
          <p:cNvSpPr/>
          <p:nvPr/>
        </p:nvSpPr>
        <p:spPr>
          <a:xfrm>
            <a:off x="5356513" y="3946906"/>
            <a:ext cx="2097054" cy="833067"/>
          </a:xfrm>
          <a:prstGeom prst="flowChartDecision">
            <a:avLst/>
          </a:prstGeom>
          <a:solidFill>
            <a:schemeClr val="accent1">
              <a:lumMod val="40000"/>
              <a:lumOff val="60000"/>
            </a:schemeClr>
          </a:solidFill>
          <a:ln>
            <a:solidFill>
              <a:srgbClr val="100E2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Stopping</a:t>
            </a:r>
          </a:p>
        </p:txBody>
      </p:sp>
      <p:sp>
        <p:nvSpPr>
          <p:cNvPr id="42" name="TextBox 41">
            <a:extLst>
              <a:ext uri="{FF2B5EF4-FFF2-40B4-BE49-F238E27FC236}">
                <a16:creationId xmlns:a16="http://schemas.microsoft.com/office/drawing/2014/main" id="{DD4AF9A7-705E-B10A-5F96-614334EB0AB5}"/>
              </a:ext>
            </a:extLst>
          </p:cNvPr>
          <p:cNvSpPr txBox="1"/>
          <p:nvPr/>
        </p:nvSpPr>
        <p:spPr>
          <a:xfrm>
            <a:off x="305247" y="4759281"/>
            <a:ext cx="9698213" cy="19836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285750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4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03 main challenges in Topology </a:t>
            </a:r>
            <a:r>
              <a:rPr lang="en-US" sz="240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Optimization (</a:t>
            </a:r>
            <a:r>
              <a:rPr lang="en-US" sz="240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TO)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i="1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Solving PDE: Expensive</a:t>
            </a:r>
            <a:endParaRPr lang="en-US" sz="2000" i="1" dirty="0">
              <a:solidFill>
                <a:srgbClr val="C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i="1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Gradients: Error prones + Time consuming</a:t>
            </a:r>
          </a:p>
          <a:p>
            <a:pPr marL="742950" lvl="1" indent="-285750">
              <a:lnSpc>
                <a:spcPct val="150000"/>
              </a:lnSpc>
              <a:buFont typeface="Arial" panose="020B0604020202020204" pitchFamily="34" charset="0"/>
              <a:buChar char="•"/>
            </a:pPr>
            <a:r>
              <a:rPr lang="en-US" sz="2000" i="1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Iterative process: Expensive</a:t>
            </a:r>
            <a:endParaRPr lang="en-US" sz="2000" i="1" dirty="0">
              <a:solidFill>
                <a:srgbClr val="C00000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AE8BAA91-BA55-CDB0-58E8-B9D2ACDA24C2}"/>
              </a:ext>
            </a:extLst>
          </p:cNvPr>
          <p:cNvCxnSpPr>
            <a:cxnSpLocks/>
          </p:cNvCxnSpPr>
          <p:nvPr/>
        </p:nvCxnSpPr>
        <p:spPr>
          <a:xfrm>
            <a:off x="7792579" y="2431615"/>
            <a:ext cx="1064736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BA01848B-1803-4977-CCC8-F90F9268A5A2}"/>
              </a:ext>
            </a:extLst>
          </p:cNvPr>
          <p:cNvCxnSpPr>
            <a:cxnSpLocks/>
            <a:stCxn id="26" idx="2"/>
            <a:endCxn id="14" idx="0"/>
          </p:cNvCxnSpPr>
          <p:nvPr/>
        </p:nvCxnSpPr>
        <p:spPr>
          <a:xfrm>
            <a:off x="10038885" y="2744600"/>
            <a:ext cx="0" cy="1246717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3276956D-6771-B88F-7D1C-A97B5D3DC942}"/>
              </a:ext>
            </a:extLst>
          </p:cNvPr>
          <p:cNvCxnSpPr>
            <a:cxnSpLocks/>
            <a:stCxn id="14" idx="1"/>
            <a:endCxn id="37" idx="3"/>
          </p:cNvCxnSpPr>
          <p:nvPr/>
        </p:nvCxnSpPr>
        <p:spPr>
          <a:xfrm flipH="1" flipV="1">
            <a:off x="7453567" y="4363440"/>
            <a:ext cx="1626501" cy="3355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9E09BCE5-77AB-B660-9CD5-1F1B0FDAC6F1}"/>
              </a:ext>
            </a:extLst>
          </p:cNvPr>
          <p:cNvCxnSpPr>
            <a:cxnSpLocks/>
            <a:stCxn id="37" idx="1"/>
          </p:cNvCxnSpPr>
          <p:nvPr/>
        </p:nvCxnSpPr>
        <p:spPr>
          <a:xfrm flipH="1">
            <a:off x="3461328" y="4363440"/>
            <a:ext cx="1895185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Straight Arrow Connector 27">
            <a:extLst>
              <a:ext uri="{FF2B5EF4-FFF2-40B4-BE49-F238E27FC236}">
                <a16:creationId xmlns:a16="http://schemas.microsoft.com/office/drawing/2014/main" id="{7A00525B-279C-EF60-DB2B-0D1E829E15C3}"/>
              </a:ext>
            </a:extLst>
          </p:cNvPr>
          <p:cNvCxnSpPr>
            <a:cxnSpLocks/>
            <a:stCxn id="37" idx="0"/>
          </p:cNvCxnSpPr>
          <p:nvPr/>
        </p:nvCxnSpPr>
        <p:spPr>
          <a:xfrm flipV="1">
            <a:off x="6405040" y="3236570"/>
            <a:ext cx="0" cy="71033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>
            <a:extLst>
              <a:ext uri="{FF2B5EF4-FFF2-40B4-BE49-F238E27FC236}">
                <a16:creationId xmlns:a16="http://schemas.microsoft.com/office/drawing/2014/main" id="{7DDDA5EE-47B7-1299-C201-BDB061C956D1}"/>
              </a:ext>
            </a:extLst>
          </p:cNvPr>
          <p:cNvSpPr txBox="1"/>
          <p:nvPr/>
        </p:nvSpPr>
        <p:spPr>
          <a:xfrm>
            <a:off x="4003717" y="3916155"/>
            <a:ext cx="60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i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Yes</a:t>
            </a:r>
            <a:endParaRPr lang="en-US" sz="16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5D73E9D5-8D4B-94F8-C3AB-B6217D5748DE}"/>
              </a:ext>
            </a:extLst>
          </p:cNvPr>
          <p:cNvSpPr txBox="1"/>
          <p:nvPr/>
        </p:nvSpPr>
        <p:spPr>
          <a:xfrm>
            <a:off x="5848328" y="3441102"/>
            <a:ext cx="60782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600" i="1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</a:t>
            </a:r>
            <a:endParaRPr lang="en-US" sz="1600" i="1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45" name="TextBox 44">
            <a:extLst>
              <a:ext uri="{FF2B5EF4-FFF2-40B4-BE49-F238E27FC236}">
                <a16:creationId xmlns:a16="http://schemas.microsoft.com/office/drawing/2014/main" id="{9D53B23B-883D-8D31-7C8B-1D982973FB49}"/>
              </a:ext>
            </a:extLst>
          </p:cNvPr>
          <p:cNvSpPr txBox="1"/>
          <p:nvPr/>
        </p:nvSpPr>
        <p:spPr>
          <a:xfrm>
            <a:off x="5895562" y="2102284"/>
            <a:ext cx="513361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i="1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</a:t>
            </a:r>
            <a:r>
              <a:rPr lang="en-US" i="1" baseline="-25000">
                <a:solidFill>
                  <a:srgbClr val="FF0000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e</a:t>
            </a:r>
            <a:endParaRPr lang="en-US" baseline="-25000">
              <a:solidFill>
                <a:srgbClr val="FF0000"/>
              </a:solidFill>
            </a:endParaRP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B00AAAD2-7AEB-E8DE-3018-221230817BEE}"/>
              </a:ext>
            </a:extLst>
          </p:cNvPr>
          <p:cNvSpPr txBox="1"/>
          <p:nvPr/>
        </p:nvSpPr>
        <p:spPr>
          <a:xfrm>
            <a:off x="7715832" y="4454484"/>
            <a:ext cx="13189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Update</a:t>
            </a:r>
            <a:r>
              <a:rPr lang="en-US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Wingdings" panose="05000000000000000000" pitchFamily="2" charset="2"/>
              </a:rPr>
              <a:t> of </a:t>
            </a:r>
            <a:r>
              <a:rPr lang="en-US" sz="1600" b="1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</a:t>
            </a:r>
            <a:endParaRPr lang="en-US" sz="1600" b="1" i="1" baseline="-25000" dirty="0"/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5FA2B663-78AF-BC4F-521C-DF4BE1FD08D0}"/>
              </a:ext>
            </a:extLst>
          </p:cNvPr>
          <p:cNvSpPr txBox="1"/>
          <p:nvPr/>
        </p:nvSpPr>
        <p:spPr>
          <a:xfrm>
            <a:off x="3775337" y="4513302"/>
            <a:ext cx="13189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60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Optimal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  <a:sym typeface="Wingdings" panose="05000000000000000000" pitchFamily="2" charset="2"/>
              </a:rPr>
              <a:t> </a:t>
            </a:r>
            <a:r>
              <a:rPr lang="en-US" sz="1600" b="1" i="1" dirty="0"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</a:t>
            </a:r>
            <a:endParaRPr lang="en-US" sz="1600" b="1" i="1" baseline="-25000" dirty="0"/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EAB2CC41-CA09-3BB5-5B1F-3443DF58B785}"/>
              </a:ext>
            </a:extLst>
          </p:cNvPr>
          <p:cNvSpPr txBox="1"/>
          <p:nvPr/>
        </p:nvSpPr>
        <p:spPr>
          <a:xfrm>
            <a:off x="10029358" y="3188906"/>
            <a:ext cx="13189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6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Sensitivity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9" name="Rectangle: Rounded Corners 8">
            <a:extLst>
              <a:ext uri="{FF2B5EF4-FFF2-40B4-BE49-F238E27FC236}">
                <a16:creationId xmlns:a16="http://schemas.microsoft.com/office/drawing/2014/main" id="{B391CAF9-6F58-46F1-6CBC-DDD53E653362}"/>
              </a:ext>
            </a:extLst>
          </p:cNvPr>
          <p:cNvSpPr/>
          <p:nvPr/>
        </p:nvSpPr>
        <p:spPr>
          <a:xfrm>
            <a:off x="1086738" y="1047616"/>
            <a:ext cx="1837282" cy="393147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Initial domain</a:t>
            </a:r>
          </a:p>
        </p:txBody>
      </p:sp>
      <p:sp>
        <p:nvSpPr>
          <p:cNvPr id="10" name="Rectangle: Rounded Corners 9">
            <a:extLst>
              <a:ext uri="{FF2B5EF4-FFF2-40B4-BE49-F238E27FC236}">
                <a16:creationId xmlns:a16="http://schemas.microsoft.com/office/drawing/2014/main" id="{FFF6E3E2-5C17-17B3-C0ED-93E0A4BAC88A}"/>
              </a:ext>
            </a:extLst>
          </p:cNvPr>
          <p:cNvSpPr/>
          <p:nvPr/>
        </p:nvSpPr>
        <p:spPr>
          <a:xfrm>
            <a:off x="4797373" y="1047616"/>
            <a:ext cx="3048000" cy="393147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Design variables: density 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(</a:t>
            </a:r>
            <a:r>
              <a:rPr lang="en-US" b="1" i="1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  <a:sym typeface="Symbol" panose="05050102010706020507" pitchFamily="18" charset="2"/>
              </a:rPr>
              <a:t></a:t>
            </a:r>
            <a:r>
              <a:rPr 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13" name="Rectangle: Rounded Corners 12">
            <a:extLst>
              <a:ext uri="{FF2B5EF4-FFF2-40B4-BE49-F238E27FC236}">
                <a16:creationId xmlns:a16="http://schemas.microsoft.com/office/drawing/2014/main" id="{93160D8B-AD4B-39DD-5881-0586F606177A}"/>
              </a:ext>
            </a:extLst>
          </p:cNvPr>
          <p:cNvSpPr/>
          <p:nvPr/>
        </p:nvSpPr>
        <p:spPr>
          <a:xfrm>
            <a:off x="8510062" y="974661"/>
            <a:ext cx="3131893" cy="529114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Solve PDE using 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Finite Element Analysis (FEA)</a:t>
            </a:r>
          </a:p>
        </p:txBody>
      </p:sp>
      <p:sp>
        <p:nvSpPr>
          <p:cNvPr id="14" name="Rectangle: Rounded Corners 13">
            <a:extLst>
              <a:ext uri="{FF2B5EF4-FFF2-40B4-BE49-F238E27FC236}">
                <a16:creationId xmlns:a16="http://schemas.microsoft.com/office/drawing/2014/main" id="{8F5F238D-344F-4423-BD5C-E93AC86BDD91}"/>
              </a:ext>
            </a:extLst>
          </p:cNvPr>
          <p:cNvSpPr/>
          <p:nvPr/>
        </p:nvSpPr>
        <p:spPr>
          <a:xfrm>
            <a:off x="9080068" y="3991317"/>
            <a:ext cx="1917634" cy="75095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Gradient-based </a:t>
            </a:r>
          </a:p>
          <a:p>
            <a:pPr algn="ctr"/>
            <a:r>
              <a:rPr lang="en-US" dirty="0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optimizers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A232C4D1-F423-03F7-8A80-DDED498B64B1}"/>
              </a:ext>
            </a:extLst>
          </p:cNvPr>
          <p:cNvSpPr txBox="1"/>
          <p:nvPr/>
        </p:nvSpPr>
        <p:spPr>
          <a:xfrm>
            <a:off x="7583774" y="2035726"/>
            <a:ext cx="1318911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>
            <a:defPPr>
              <a:defRPr lang="en-US"/>
            </a:defPPr>
            <a:lvl1pPr algn="ctr">
              <a:defRPr sz="1600" i="1">
                <a:latin typeface="Times New Roman" panose="02020603050405020304" pitchFamily="18" charset="0"/>
                <a:cs typeface="Times New Roman" panose="02020603050405020304" pitchFamily="18" charset="0"/>
              </a:defRPr>
            </a:lvl1pPr>
          </a:lstStyle>
          <a:p>
            <a:r>
              <a:rPr lang="en-US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  <a:sym typeface="Symbol" panose="05050102010706020507" pitchFamily="18" charset="2"/>
              </a:rPr>
              <a:t>Functions</a:t>
            </a:r>
            <a:endParaRPr lang="en-US" dirty="0"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sp>
        <p:nvSpPr>
          <p:cNvPr id="8" name="Google Shape;148;p6">
            <a:extLst>
              <a:ext uri="{FF2B5EF4-FFF2-40B4-BE49-F238E27FC236}">
                <a16:creationId xmlns:a16="http://schemas.microsoft.com/office/drawing/2014/main" id="{D157E68F-CD83-45AD-BB4B-5E9C2AC0404E}"/>
              </a:ext>
            </a:extLst>
          </p:cNvPr>
          <p:cNvSpPr txBox="1">
            <a:spLocks/>
          </p:cNvSpPr>
          <p:nvPr/>
        </p:nvSpPr>
        <p:spPr>
          <a:xfrm>
            <a:off x="550416" y="60172"/>
            <a:ext cx="11091909" cy="82759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spcBef>
                <a:spcPts val="0"/>
              </a:spcBef>
              <a:buClr>
                <a:srgbClr val="FFFFFF"/>
              </a:buClr>
              <a:buSzPct val="100000"/>
              <a:buFont typeface="Arial"/>
              <a:buNone/>
            </a:pPr>
            <a:r>
              <a:rPr lang="en-US"/>
              <a:t>Challenges in Topology Optimization</a:t>
            </a:r>
            <a:endParaRPr lang="en-US" dirty="0"/>
          </a:p>
        </p:txBody>
      </p:sp>
      <p:pic>
        <p:nvPicPr>
          <p:cNvPr id="17" name="bandicam 2024-10-28 20-26-59-303">
            <a:hlinkClick r:id="" action="ppaction://media"/>
            <a:extLst>
              <a:ext uri="{FF2B5EF4-FFF2-40B4-BE49-F238E27FC236}">
                <a16:creationId xmlns:a16="http://schemas.microsoft.com/office/drawing/2014/main" id="{F125B482-8AE1-10D1-A4E2-6DB132EE7573}"/>
              </a:ext>
            </a:extLst>
          </p:cNvPr>
          <p:cNvPicPr>
            <a:picLocks noChangeAspect="1"/>
          </p:cNvPicPr>
          <p:nvPr>
            <a:videoFile r:link="rId2"/>
            <p:extLst>
              <p:ext uri="{DAA4B4D4-6D71-4841-9C94-3DE7FCFB9230}">
                <p14:media xmlns:p14="http://schemas.microsoft.com/office/powerpoint/2010/main" r:embed="rId1"/>
              </p:ext>
            </p:extLst>
          </p:nvPr>
        </p:nvPicPr>
        <p:blipFill>
          <a:blip r:embed="rId7"/>
          <a:srcRect l="38495" t="16877" r="37398" b="60996"/>
          <a:stretch/>
        </p:blipFill>
        <p:spPr>
          <a:xfrm>
            <a:off x="828438" y="3461457"/>
            <a:ext cx="2457330" cy="13185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60863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after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7900" fill="hold"/>
                                        <p:tgtEl>
                                          <p:spTgt spid="17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repeatCount="indefinite" fill="hold" display="0">
                  <p:stCondLst>
                    <p:cond delay="indefinite"/>
                  </p:stCondLst>
                </p:cTn>
                <p:tgtEl>
                  <p:spTgt spid="17"/>
                </p:tgtEl>
              </p:cMediaNode>
            </p:video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CD7B20-E9CE-6599-2AEF-185771A85A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B3B654-8090-48A9-E903-58EB475260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6</a:t>
            </a:fld>
            <a:endParaRPr lang="en-US"/>
          </a:p>
        </p:txBody>
      </p:sp>
      <p:pic>
        <p:nvPicPr>
          <p:cNvPr id="1026" name="Picture 2">
            <a:extLst>
              <a:ext uri="{FF2B5EF4-FFF2-40B4-BE49-F238E27FC236}">
                <a16:creationId xmlns:a16="http://schemas.microsoft.com/office/drawing/2014/main" id="{DF8AD8B4-8374-9EE4-BD20-3F5C25D4778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40520" y="2813258"/>
            <a:ext cx="4706711" cy="313332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210A9C1A-5734-0FC7-0350-BA99E287963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7288"/>
          <a:stretch/>
        </p:blipFill>
        <p:spPr bwMode="auto">
          <a:xfrm>
            <a:off x="181874" y="3041549"/>
            <a:ext cx="6272331" cy="22528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7" name="TextBox 26">
            <a:extLst>
              <a:ext uri="{FF2B5EF4-FFF2-40B4-BE49-F238E27FC236}">
                <a16:creationId xmlns:a16="http://schemas.microsoft.com/office/drawing/2014/main" id="{2342A55E-FAD9-1FF6-D9B9-4E522F1AE1D7}"/>
              </a:ext>
            </a:extLst>
          </p:cNvPr>
          <p:cNvSpPr txBox="1"/>
          <p:nvPr/>
        </p:nvSpPr>
        <p:spPr>
          <a:xfrm>
            <a:off x="0" y="6488668"/>
            <a:ext cx="2217683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lang="en-US" kern="1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https://medium.com/</a:t>
            </a:r>
            <a:endParaRPr lang="en-US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pic>
        <p:nvPicPr>
          <p:cNvPr id="30" name="Picture 29">
            <a:extLst>
              <a:ext uri="{FF2B5EF4-FFF2-40B4-BE49-F238E27FC236}">
                <a16:creationId xmlns:a16="http://schemas.microsoft.com/office/drawing/2014/main" id="{B230280D-F2E6-5485-A614-9F271D41A66D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r="56239"/>
          <a:stretch/>
        </p:blipFill>
        <p:spPr>
          <a:xfrm>
            <a:off x="1732896" y="1027333"/>
            <a:ext cx="2859794" cy="1390844"/>
          </a:xfrm>
          <a:prstGeom prst="rect">
            <a:avLst/>
          </a:prstGeom>
        </p:spPr>
      </p:pic>
      <p:pic>
        <p:nvPicPr>
          <p:cNvPr id="31" name="Picture 30">
            <a:extLst>
              <a:ext uri="{FF2B5EF4-FFF2-40B4-BE49-F238E27FC236}">
                <a16:creationId xmlns:a16="http://schemas.microsoft.com/office/drawing/2014/main" id="{E0525F8D-9581-EAE3-6F40-E5845D7C5238}"/>
              </a:ext>
            </a:extLst>
          </p:cNvPr>
          <p:cNvPicPr>
            <a:picLocks noChangeAspect="1"/>
          </p:cNvPicPr>
          <p:nvPr/>
        </p:nvPicPr>
        <p:blipFill>
          <a:blip r:embed="rId5"/>
          <a:srcRect l="53598"/>
          <a:stretch/>
        </p:blipFill>
        <p:spPr>
          <a:xfrm>
            <a:off x="7456817" y="1027333"/>
            <a:ext cx="3032437" cy="1390844"/>
          </a:xfrm>
          <a:prstGeom prst="rect">
            <a:avLst/>
          </a:prstGeom>
        </p:spPr>
      </p:pic>
      <p:cxnSp>
        <p:nvCxnSpPr>
          <p:cNvPr id="32" name="Straight Arrow Connector 31">
            <a:extLst>
              <a:ext uri="{FF2B5EF4-FFF2-40B4-BE49-F238E27FC236}">
                <a16:creationId xmlns:a16="http://schemas.microsoft.com/office/drawing/2014/main" id="{4976C454-FA2E-0C02-013A-0D0E44689119}"/>
              </a:ext>
            </a:extLst>
          </p:cNvPr>
          <p:cNvCxnSpPr>
            <a:cxnSpLocks/>
            <a:stCxn id="33" idx="3"/>
            <a:endCxn id="31" idx="1"/>
          </p:cNvCxnSpPr>
          <p:nvPr/>
        </p:nvCxnSpPr>
        <p:spPr>
          <a:xfrm>
            <a:off x="7026707" y="1722755"/>
            <a:ext cx="430110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Rectangle: Rounded Corners 32">
            <a:extLst>
              <a:ext uri="{FF2B5EF4-FFF2-40B4-BE49-F238E27FC236}">
                <a16:creationId xmlns:a16="http://schemas.microsoft.com/office/drawing/2014/main" id="{E01C34D7-805E-300E-9803-F6A4ED60885E}"/>
              </a:ext>
            </a:extLst>
          </p:cNvPr>
          <p:cNvSpPr/>
          <p:nvPr/>
        </p:nvSpPr>
        <p:spPr>
          <a:xfrm>
            <a:off x="5109073" y="1347277"/>
            <a:ext cx="1917634" cy="750955"/>
          </a:xfrm>
          <a:prstGeom prst="roundRect">
            <a:avLst/>
          </a:prstGeom>
          <a:solidFill>
            <a:schemeClr val="accent1">
              <a:lumMod val="40000"/>
              <a:lumOff val="60000"/>
            </a:schemeClr>
          </a:solidFill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>
                <a:solidFill>
                  <a:schemeClr val="tx1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Deep learning</a:t>
            </a:r>
            <a:endParaRPr lang="en-US" dirty="0">
              <a:solidFill>
                <a:schemeClr val="tx1"/>
              </a:solidFill>
              <a:latin typeface="Calibri" panose="020F0502020204030204" pitchFamily="34" charset="0"/>
              <a:ea typeface="Calibri" panose="020F0502020204030204" pitchFamily="34" charset="0"/>
              <a:cs typeface="Calibri" panose="020F0502020204030204" pitchFamily="34" charset="0"/>
            </a:endParaRPr>
          </a:p>
        </p:txBody>
      </p: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3C52D800-EF4D-7507-4898-C93FFF7A22F6}"/>
              </a:ext>
            </a:extLst>
          </p:cNvPr>
          <p:cNvCxnSpPr>
            <a:cxnSpLocks/>
            <a:stCxn id="30" idx="3"/>
            <a:endCxn id="33" idx="1"/>
          </p:cNvCxnSpPr>
          <p:nvPr/>
        </p:nvCxnSpPr>
        <p:spPr>
          <a:xfrm>
            <a:off x="4592690" y="1722755"/>
            <a:ext cx="516383" cy="0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1" name="Straight Arrow Connector 50">
            <a:extLst>
              <a:ext uri="{FF2B5EF4-FFF2-40B4-BE49-F238E27FC236}">
                <a16:creationId xmlns:a16="http://schemas.microsoft.com/office/drawing/2014/main" id="{EDFCBEA8-7313-5635-0CDF-8D9BEB76CDFD}"/>
              </a:ext>
            </a:extLst>
          </p:cNvPr>
          <p:cNvCxnSpPr>
            <a:cxnSpLocks/>
            <a:stCxn id="33" idx="2"/>
          </p:cNvCxnSpPr>
          <p:nvPr/>
        </p:nvCxnSpPr>
        <p:spPr>
          <a:xfrm flipH="1">
            <a:off x="3259015" y="2098232"/>
            <a:ext cx="2808875" cy="7150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74142810-EC63-146F-6A28-484BA43FCD16}"/>
              </a:ext>
            </a:extLst>
          </p:cNvPr>
          <p:cNvCxnSpPr>
            <a:cxnSpLocks/>
            <a:stCxn id="33" idx="2"/>
            <a:endCxn id="1026" idx="0"/>
          </p:cNvCxnSpPr>
          <p:nvPr/>
        </p:nvCxnSpPr>
        <p:spPr>
          <a:xfrm>
            <a:off x="6067890" y="2098232"/>
            <a:ext cx="3125986" cy="715026"/>
          </a:xfrm>
          <a:prstGeom prst="straightConnector1">
            <a:avLst/>
          </a:prstGeom>
          <a:ln w="19050">
            <a:solidFill>
              <a:schemeClr val="tx1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24" name="TextBox 1023">
            <a:extLst>
              <a:ext uri="{FF2B5EF4-FFF2-40B4-BE49-F238E27FC236}">
                <a16:creationId xmlns:a16="http://schemas.microsoft.com/office/drawing/2014/main" id="{5DB2172C-A00A-2F99-C5CA-067C94A8C2B6}"/>
              </a:ext>
            </a:extLst>
          </p:cNvPr>
          <p:cNvSpPr txBox="1"/>
          <p:nvPr/>
        </p:nvSpPr>
        <p:spPr>
          <a:xfrm>
            <a:off x="1946002" y="6039716"/>
            <a:ext cx="1012075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kern="1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CNN</a:t>
            </a:r>
            <a:endParaRPr lang="en-US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025" name="TextBox 1024">
            <a:extLst>
              <a:ext uri="{FF2B5EF4-FFF2-40B4-BE49-F238E27FC236}">
                <a16:creationId xmlns:a16="http://schemas.microsoft.com/office/drawing/2014/main" id="{2F25C841-B86C-C69A-0D04-BB07E902C5C7}"/>
              </a:ext>
            </a:extLst>
          </p:cNvPr>
          <p:cNvSpPr txBox="1"/>
          <p:nvPr/>
        </p:nvSpPr>
        <p:spPr>
          <a:xfrm>
            <a:off x="8565681" y="6039716"/>
            <a:ext cx="1012074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800"/>
              </a:spcAft>
            </a:pPr>
            <a:r>
              <a:rPr lang="en-US" kern="100">
                <a:latin typeface="Calibri" panose="020F0502020204030204" pitchFamily="34" charset="0"/>
                <a:ea typeface="Calibri" panose="020F0502020204030204" pitchFamily="34" charset="0"/>
                <a:cs typeface="Times New Roman" panose="02020603050405020304" pitchFamily="18" charset="0"/>
              </a:rPr>
              <a:t>Unet</a:t>
            </a:r>
            <a:endParaRPr lang="en-US" kern="100" dirty="0">
              <a:latin typeface="Calibri" panose="020F0502020204030204" pitchFamily="34" charset="0"/>
              <a:ea typeface="Calibri" panose="020F0502020204030204" pitchFamily="34" charset="0"/>
              <a:cs typeface="Times New Roman" panose="02020603050405020304" pitchFamily="18" charset="0"/>
            </a:endParaRP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89260BE7-B4C2-02F8-0B1C-24D13B357F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Proposed deep learning</a:t>
            </a:r>
          </a:p>
        </p:txBody>
      </p:sp>
    </p:spTree>
    <p:extLst>
      <p:ext uri="{BB962C8B-B14F-4D97-AF65-F5344CB8AC3E}">
        <p14:creationId xmlns:p14="http://schemas.microsoft.com/office/powerpoint/2010/main" val="415454331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F6DF4B-ECC5-0F2B-F17D-5AB78BFF85B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62493A7-48F8-4554-8DA5-A94F664EE5C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Challenges in Topology Optimization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2EF14D4B-6F44-B1D7-2568-63ADC009A2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/>
              <a:t> 200 training: Latin Hypercube</a:t>
            </a:r>
          </a:p>
          <a:p>
            <a:r>
              <a:rPr lang="en-US"/>
              <a:t> Input: 01 channel</a:t>
            </a:r>
          </a:p>
          <a:p>
            <a:r>
              <a:rPr lang="en-US"/>
              <a:t> Output: 01 channel</a:t>
            </a:r>
          </a:p>
          <a:p>
            <a:r>
              <a:rPr lang="en-US"/>
              <a:t> Parameters:</a:t>
            </a:r>
          </a:p>
          <a:p>
            <a:pPr lvl="1"/>
            <a:r>
              <a:rPr lang="en-US"/>
              <a:t>Stride = 1</a:t>
            </a:r>
          </a:p>
          <a:p>
            <a:pPr lvl="1"/>
            <a:r>
              <a:rPr lang="en-US"/>
              <a:t>Padding = 1</a:t>
            </a:r>
          </a:p>
          <a:p>
            <a:pPr lvl="1"/>
            <a:r>
              <a:rPr lang="en-US"/>
              <a:t>Learning rate = 1e-3</a:t>
            </a:r>
          </a:p>
          <a:p>
            <a:r>
              <a:rPr lang="en-US"/>
              <a:t> Loss function: MSE</a:t>
            </a:r>
          </a:p>
          <a:p>
            <a:r>
              <a:rPr lang="en-US"/>
              <a:t> Training time</a:t>
            </a:r>
          </a:p>
          <a:p>
            <a:pPr lvl="1"/>
            <a:r>
              <a:rPr lang="en-US"/>
              <a:t>CNN = 120s</a:t>
            </a:r>
          </a:p>
          <a:p>
            <a:pPr lvl="1"/>
            <a:r>
              <a:rPr lang="en-US"/>
              <a:t>Unet = 945s</a:t>
            </a:r>
          </a:p>
          <a:p>
            <a:endParaRPr lang="en-US"/>
          </a:p>
          <a:p>
            <a:pPr lvl="1"/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C18AAA9D-88CF-88D1-1340-438E0CD5C1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7</a:t>
            </a:fld>
            <a:endParaRPr lang="en-US"/>
          </a:p>
        </p:txBody>
      </p:sp>
      <p:sp>
        <p:nvSpPr>
          <p:cNvPr id="8" name="Google Shape;148;p6">
            <a:extLst>
              <a:ext uri="{FF2B5EF4-FFF2-40B4-BE49-F238E27FC236}">
                <a16:creationId xmlns:a16="http://schemas.microsoft.com/office/drawing/2014/main" id="{28E83CCE-84DD-673B-5BA4-8D62893A7161}"/>
              </a:ext>
            </a:extLst>
          </p:cNvPr>
          <p:cNvSpPr txBox="1">
            <a:spLocks/>
          </p:cNvSpPr>
          <p:nvPr/>
        </p:nvSpPr>
        <p:spPr>
          <a:xfrm>
            <a:off x="550416" y="60172"/>
            <a:ext cx="11091909" cy="82759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spcBef>
                <a:spcPts val="0"/>
              </a:spcBef>
              <a:buClr>
                <a:srgbClr val="FFFFFF"/>
              </a:buClr>
              <a:buSzPct val="100000"/>
              <a:buFont typeface="Arial"/>
              <a:buNone/>
            </a:pPr>
            <a:r>
              <a:rPr lang="en-US"/>
              <a:t>Dataset and Training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FF0C8AC-C461-5419-E4AC-8C6ADEBC233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128208" y="1440768"/>
            <a:ext cx="7630037" cy="50041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259245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A2D7EB-7CCA-778B-6E46-93F21EE9B7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6454B62-F7D6-95FF-778E-E0DD2E38FBE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Challenges in Topology Optimization</a:t>
            </a:r>
          </a:p>
        </p:txBody>
      </p:sp>
      <p:sp>
        <p:nvSpPr>
          <p:cNvPr id="9" name="Content Placeholder 8">
            <a:extLst>
              <a:ext uri="{FF2B5EF4-FFF2-40B4-BE49-F238E27FC236}">
                <a16:creationId xmlns:a16="http://schemas.microsoft.com/office/drawing/2014/main" id="{B1F205FB-7DFF-9723-7D9E-B6963F2DE5D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416" y="942293"/>
            <a:ext cx="11091909" cy="5308541"/>
          </a:xfrm>
        </p:spPr>
        <p:txBody>
          <a:bodyPr/>
          <a:lstStyle/>
          <a:p>
            <a:r>
              <a:rPr lang="en-US"/>
              <a:t> 50 dataset</a:t>
            </a:r>
          </a:p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86C5BC-F01E-240D-B041-7E959D20049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8</a:t>
            </a:fld>
            <a:endParaRPr lang="en-US"/>
          </a:p>
        </p:txBody>
      </p:sp>
      <p:sp>
        <p:nvSpPr>
          <p:cNvPr id="8" name="Google Shape;148;p6">
            <a:extLst>
              <a:ext uri="{FF2B5EF4-FFF2-40B4-BE49-F238E27FC236}">
                <a16:creationId xmlns:a16="http://schemas.microsoft.com/office/drawing/2014/main" id="{0146AD61-AE2C-A1B6-5F4F-CB28C2525DE2}"/>
              </a:ext>
            </a:extLst>
          </p:cNvPr>
          <p:cNvSpPr txBox="1">
            <a:spLocks/>
          </p:cNvSpPr>
          <p:nvPr/>
        </p:nvSpPr>
        <p:spPr>
          <a:xfrm>
            <a:off x="550416" y="60172"/>
            <a:ext cx="11091909" cy="82759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spcBef>
                <a:spcPts val="0"/>
              </a:spcBef>
              <a:buClr>
                <a:srgbClr val="FFFFFF"/>
              </a:buClr>
              <a:buSzPct val="100000"/>
              <a:buFont typeface="Arial"/>
              <a:buNone/>
            </a:pPr>
            <a:r>
              <a:rPr lang="en-US"/>
              <a:t>Testing data</a:t>
            </a:r>
            <a:endParaRPr lang="en-US" dirty="0"/>
          </a:p>
        </p:txBody>
      </p:sp>
      <p:pic>
        <p:nvPicPr>
          <p:cNvPr id="7" name="Picture 6" descr="A graph of a graph&#10;&#10;Description automatically generated with medium confidence">
            <a:extLst>
              <a:ext uri="{FF2B5EF4-FFF2-40B4-BE49-F238E27FC236}">
                <a16:creationId xmlns:a16="http://schemas.microsoft.com/office/drawing/2014/main" id="{F7AE1049-B69A-7736-397D-22897366049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619726" y="1090484"/>
            <a:ext cx="7821996" cy="553696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553159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197177B-D222-A46A-D026-6F5B932E957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4DA4029-C59F-A460-7EE5-4F6FC25821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Challenges in Topology Optimization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5138363-C2C4-57DE-39CC-6F1B6BA3687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93382" y="1012055"/>
            <a:ext cx="3160109" cy="5308541"/>
          </a:xfrm>
        </p:spPr>
        <p:txBody>
          <a:bodyPr/>
          <a:lstStyle/>
          <a:p>
            <a:r>
              <a:rPr lang="en-US"/>
              <a:t> Times:</a:t>
            </a:r>
          </a:p>
          <a:p>
            <a:pPr lvl="1"/>
            <a:r>
              <a:rPr lang="en-US"/>
              <a:t> TO = 137 s</a:t>
            </a:r>
          </a:p>
          <a:p>
            <a:pPr lvl="1"/>
            <a:r>
              <a:rPr lang="en-US"/>
              <a:t> CNN = 0.005 s</a:t>
            </a:r>
          </a:p>
          <a:p>
            <a:pPr lvl="1"/>
            <a:r>
              <a:rPr lang="en-US"/>
              <a:t> Unet = 0.001 s</a:t>
            </a:r>
          </a:p>
          <a:p>
            <a:r>
              <a:rPr lang="en-US"/>
              <a:t> 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A7589B0-FA2D-E0BD-A173-603856EC6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9</a:t>
            </a:fld>
            <a:endParaRPr lang="en-US"/>
          </a:p>
        </p:txBody>
      </p:sp>
      <p:sp>
        <p:nvSpPr>
          <p:cNvPr id="8" name="Google Shape;148;p6">
            <a:extLst>
              <a:ext uri="{FF2B5EF4-FFF2-40B4-BE49-F238E27FC236}">
                <a16:creationId xmlns:a16="http://schemas.microsoft.com/office/drawing/2014/main" id="{273A8EC4-AAAA-257D-FA44-978574A84901}"/>
              </a:ext>
            </a:extLst>
          </p:cNvPr>
          <p:cNvSpPr txBox="1">
            <a:spLocks/>
          </p:cNvSpPr>
          <p:nvPr/>
        </p:nvSpPr>
        <p:spPr>
          <a:xfrm>
            <a:off x="550416" y="60172"/>
            <a:ext cx="11091909" cy="82759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spcBef>
                <a:spcPts val="0"/>
              </a:spcBef>
              <a:buClr>
                <a:srgbClr val="FFFFFF"/>
              </a:buClr>
              <a:buSzPct val="100000"/>
              <a:buFont typeface="Arial"/>
              <a:buNone/>
            </a:pPr>
            <a:r>
              <a:rPr lang="en-US"/>
              <a:t>Prediction</a:t>
            </a:r>
            <a:endParaRPr lang="en-US" dirty="0"/>
          </a:p>
        </p:txBody>
      </p:sp>
      <p:pic>
        <p:nvPicPr>
          <p:cNvPr id="15" name="Picture 14" descr="A screenshot of a graph&#10;&#10;Description automatically generated">
            <a:extLst>
              <a:ext uri="{FF2B5EF4-FFF2-40B4-BE49-F238E27FC236}">
                <a16:creationId xmlns:a16="http://schemas.microsoft.com/office/drawing/2014/main" id="{D6E573ED-DBF5-A102-D961-1260630756B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53491" y="887769"/>
            <a:ext cx="8381487" cy="56098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9546903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07F7F9-F498-4E4A-5BD9-3F1E5375B01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38BB38-12B2-3245-ADE6-E4BB5E93F8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sz="3200" b="1">
                <a:solidFill>
                  <a:schemeClr val="bg1"/>
                </a:solidFill>
              </a:rPr>
              <a:t>Challenges in Topology Optimization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AD09CABC-EFB7-3D0D-5DD6-3EF37C0C535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50045" y="1012055"/>
            <a:ext cx="11091909" cy="5308541"/>
          </a:xfrm>
        </p:spPr>
        <p:txBody>
          <a:bodyPr>
            <a:noAutofit/>
          </a:bodyPr>
          <a:lstStyle/>
          <a:p>
            <a:pPr>
              <a:lnSpc>
                <a:spcPct val="100000"/>
              </a:lnSpc>
            </a:pPr>
            <a:r>
              <a:rPr lang="en-US"/>
              <a:t> Hyperparameter tunning</a:t>
            </a:r>
          </a:p>
          <a:p>
            <a:pPr>
              <a:lnSpc>
                <a:spcPct val="100000"/>
              </a:lnSpc>
            </a:pPr>
            <a:r>
              <a:rPr lang="en-US"/>
              <a:t> Dataset: Increase number of dataset and 3D models</a:t>
            </a:r>
          </a:p>
          <a:p>
            <a:pPr>
              <a:lnSpc>
                <a:spcPct val="100000"/>
              </a:lnSpc>
            </a:pPr>
            <a:r>
              <a:rPr lang="en-US"/>
              <a:t> Data augmentation: noise, rotation</a:t>
            </a:r>
          </a:p>
          <a:p>
            <a:pPr>
              <a:lnSpc>
                <a:spcPct val="100000"/>
              </a:lnSpc>
            </a:pPr>
            <a:r>
              <a:rPr lang="en-US"/>
              <a:t> Different models: Diffusions</a:t>
            </a:r>
          </a:p>
          <a:p>
            <a:pPr>
              <a:lnSpc>
                <a:spcPct val="100000"/>
              </a:lnSpc>
            </a:pPr>
            <a:r>
              <a:rPr lang="en-US"/>
              <a:t> My codes: </a:t>
            </a:r>
            <a:r>
              <a:rPr lang="en-US">
                <a:hlinkClick r:id="rId3"/>
              </a:rPr>
              <a:t>https://github.com/sy-nguyen-van/Deep_Learning_Sy</a:t>
            </a:r>
            <a:endParaRPr lang="en-US"/>
          </a:p>
          <a:p>
            <a:pPr>
              <a:lnSpc>
                <a:spcPct val="100000"/>
              </a:lnSpc>
            </a:pPr>
            <a:r>
              <a:rPr lang="en-US"/>
              <a:t> My thought:</a:t>
            </a:r>
          </a:p>
          <a:p>
            <a:pPr lvl="1">
              <a:lnSpc>
                <a:spcPct val="100000"/>
              </a:lnSpc>
            </a:pPr>
            <a:r>
              <a:rPr lang="en-US"/>
              <a:t>DL cannot replace topology optimization (TOP)</a:t>
            </a:r>
          </a:p>
          <a:p>
            <a:pPr lvl="1">
              <a:lnSpc>
                <a:spcPct val="100000"/>
              </a:lnSpc>
            </a:pPr>
            <a:r>
              <a:rPr lang="en-US"/>
              <a:t>Because it still requires dataset obtained from TOP</a:t>
            </a:r>
          </a:p>
          <a:p>
            <a:pPr lvl="1">
              <a:lnSpc>
                <a:spcPct val="100000"/>
              </a:lnSpc>
            </a:pPr>
            <a:r>
              <a:rPr lang="en-US"/>
              <a:t>May be in the future, when we have enough data, DL will exceed TOP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68B9EA9-9C1B-6575-92E7-54083F4974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C7697F5-3DCA-0A4F-B9EA-FEC2794BD1A6}" type="slidenum">
              <a:rPr lang="en-US" smtClean="0"/>
              <a:t>10</a:t>
            </a:fld>
            <a:endParaRPr lang="en-US"/>
          </a:p>
        </p:txBody>
      </p:sp>
      <p:sp>
        <p:nvSpPr>
          <p:cNvPr id="8" name="Google Shape;148;p6">
            <a:extLst>
              <a:ext uri="{FF2B5EF4-FFF2-40B4-BE49-F238E27FC236}">
                <a16:creationId xmlns:a16="http://schemas.microsoft.com/office/drawing/2014/main" id="{BC733281-4B8E-468D-6460-9FFA07DB9536}"/>
              </a:ext>
            </a:extLst>
          </p:cNvPr>
          <p:cNvSpPr txBox="1">
            <a:spLocks/>
          </p:cNvSpPr>
          <p:nvPr/>
        </p:nvSpPr>
        <p:spPr>
          <a:xfrm>
            <a:off x="550416" y="60172"/>
            <a:ext cx="11091909" cy="827597"/>
          </a:xfrm>
          <a:prstGeom prst="rect">
            <a:avLst/>
          </a:prstGeom>
          <a:noFill/>
          <a:ln>
            <a:noFill/>
          </a:ln>
        </p:spPr>
        <p:txBody>
          <a:bodyPr spcFirstLastPara="1" vert="horz" wrap="square" lIns="91425" tIns="45700" rIns="91425" bIns="45700" rtlCol="0" anchor="ctr" anchorCtr="0">
            <a:normAutofit/>
          </a:bodyPr>
          <a:lstStyle>
            <a:lvl1pPr algn="ctr" defTabSz="914423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rgbClr val="C00000"/>
                </a:solidFill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defRPr>
            </a:lvl1pPr>
          </a:lstStyle>
          <a:p>
            <a:pPr>
              <a:spcBef>
                <a:spcPts val="0"/>
              </a:spcBef>
              <a:buClr>
                <a:srgbClr val="FFFFFF"/>
              </a:buClr>
              <a:buSzPct val="100000"/>
              <a:buFont typeface="Arial"/>
              <a:buNone/>
            </a:pPr>
            <a:r>
              <a:rPr lang="en-US"/>
              <a:t>Conclusion and future works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2321717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2377</TotalTime>
  <Words>545</Words>
  <Application>Microsoft Office PowerPoint</Application>
  <PresentationFormat>Widescreen</PresentationFormat>
  <Paragraphs>117</Paragraphs>
  <Slides>10</Slides>
  <Notes>10</Notes>
  <HiddenSlides>0</HiddenSlides>
  <MMClips>2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Calibri</vt:lpstr>
      <vt:lpstr>Times New Roman</vt:lpstr>
      <vt:lpstr>Wingdings</vt:lpstr>
      <vt:lpstr>Office Theme</vt:lpstr>
      <vt:lpstr>PowerPoint Presentation</vt:lpstr>
      <vt:lpstr>How to create lighter and safer structures ?</vt:lpstr>
      <vt:lpstr>Topology optimization</vt:lpstr>
      <vt:lpstr>Applications of topology optimization</vt:lpstr>
      <vt:lpstr>Challenges in Topology Optimization</vt:lpstr>
      <vt:lpstr>Proposed deep learning</vt:lpstr>
      <vt:lpstr>Challenges in Topology Optimization</vt:lpstr>
      <vt:lpstr>Challenges in Topology Optimization</vt:lpstr>
      <vt:lpstr>Challenges in Topology Optimization</vt:lpstr>
      <vt:lpstr>Challenges in Topology Optimization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Nguyen-Van, Sy</dc:creator>
  <cp:lastModifiedBy>Nguyen-Van, Sy</cp:lastModifiedBy>
  <cp:revision>904</cp:revision>
  <cp:lastPrinted>2025-10-16T01:53:17Z</cp:lastPrinted>
  <dcterms:created xsi:type="dcterms:W3CDTF">2025-10-16T01:46:15Z</dcterms:created>
  <dcterms:modified xsi:type="dcterms:W3CDTF">2025-11-19T14:01:54Z</dcterms:modified>
</cp:coreProperties>
</file>